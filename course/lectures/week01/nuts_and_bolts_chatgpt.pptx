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56" r:id="rId2"/>
    <p:sldId id="258" r:id="rId3"/>
    <p:sldId id="259" r:id="rId4"/>
    <p:sldId id="260" r:id="rId5"/>
    <p:sldId id="257" r:id="rId6"/>
    <p:sldId id="263" r:id="rId7"/>
    <p:sldId id="261" r:id="rId8"/>
    <p:sldId id="262" r:id="rId9"/>
    <p:sldId id="264" r:id="rId10"/>
    <p:sldId id="265" r:id="rId11"/>
    <p:sldId id="266" r:id="rId12"/>
    <p:sldId id="267" r:id="rId13"/>
    <p:sldId id="268" r:id="rId14"/>
    <p:sldId id="269" r:id="rId15"/>
    <p:sldId id="696" r:id="rId16"/>
  </p:sldIdLst>
  <p:sldSz cx="12192000" cy="6858000"/>
  <p:notesSz cx="6858000" cy="9144000"/>
  <p:defaultTextStyle>
    <a:defPPr>
      <a:defRPr lang="en-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586"/>
    <p:restoredTop sz="94675"/>
  </p:normalViewPr>
  <p:slideViewPr>
    <p:cSldViewPr snapToGrid="0">
      <p:cViewPr varScale="1">
        <p:scale>
          <a:sx n="111" d="100"/>
          <a:sy n="111" d="100"/>
        </p:scale>
        <p:origin x="240" y="2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delivery: 0:15</a:t>
            </a:r>
          </a:p>
          <a:p>
            <a:endParaRPr/>
          </a:p>
          <a:p>
            <a:r>
              <a:t>Welcome students. Introduce the course organization before starting RL formulation.</a:t>
            </a:r>
          </a:p>
          <a:p>
            <a:endParaRPr/>
          </a:p>
          <a:p>
            <a:r>
              <a:t>Source: course/syllabus/syllabusFall26.docx (instructor-frozen September 29, 2026). Course policies remain governed by that syllabus.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delivery: 0:45</a:t>
            </a:r>
          </a:p>
          <a:p>
            <a:endParaRPr/>
          </a:p>
          <a:p>
            <a:r>
              <a:t>Invite questions during and after lectures. Refer students to the syllabus for current contact information.</a:t>
            </a:r>
          </a:p>
          <a:p>
            <a:endParaRPr/>
          </a:p>
          <a:p>
            <a:r>
              <a:t>Source: course/syllabus/syllabusFall26.docx (instructor-frozen September 29, 2026). Course policies remain governed by that syllabus.</a:t>
            </a:r>
          </a:p>
          <a:p>
            <a:r>
              <a:t>Image retained from the instructor-supplied 0 - NutsAndBolts.pptx.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delivery: 1:30</a:t>
            </a:r>
          </a:p>
          <a:p>
            <a:endParaRPr/>
          </a:p>
          <a:p>
            <a:r>
              <a:t>Use a quick show of hands and one or two brief responses. Avoid a full-class round of introductions within this short briefing. Invite students to introduce themselves in later conversations.</a:t>
            </a:r>
          </a:p>
          <a:p>
            <a:endParaRPr/>
          </a:p>
          <a:p>
            <a:r>
              <a:t>Source: course/syllabus/syllabusFall26.docx (instructor-frozen September 29, 2026). Course policies remain governed by that syllabus.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Suggested delivery: 0:45</a:t>
            </a:r>
          </a:p>
          <a:p>
            <a:endParaRPr dirty="0"/>
          </a:p>
          <a:p>
            <a:r>
              <a:rPr dirty="0"/>
              <a:t>Point students to the current syllabus in the course space. Use the Hub landing-page link until a direct link to the current syllabus is available.</a:t>
            </a:r>
          </a:p>
          <a:p>
            <a:endParaRPr dirty="0"/>
          </a:p>
          <a:p>
            <a:r>
              <a:rPr dirty="0"/>
              <a:t>Source: course/syllabus/syllabusFall26.docx (instructor-frozen September 29, 2026). Course policies remain governed by that syllabus.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delivery: 1:00</a:t>
            </a:r>
          </a:p>
          <a:p>
            <a:endParaRPr/>
          </a:p>
          <a:p>
            <a:r>
              <a:t>The goal is to understand the ideas shared by RL methods and to design and evaluate learning agents. The course moves from foundations toward modern methods. Use the map for orientation without explaining the algorithms yet.</a:t>
            </a:r>
          </a:p>
          <a:p>
            <a:endParaRPr/>
          </a:p>
          <a:p>
            <a:r>
              <a:t>Source: course/syllabus/syllabusFall26.docx (instructor-frozen September 29, 2026). Course policies remain governed by that syllabus.</a:t>
            </a:r>
          </a:p>
          <a:p>
            <a:r>
              <a:t>Image retained from the instructor-supplied 0 - NutsAndBolts.pptx.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delivery: 1:15</a:t>
            </a:r>
          </a:p>
          <a:p>
            <a:endParaRPr/>
          </a:p>
          <a:p>
            <a:r>
              <a:t>Refer to the syllabus for the COMP341 and COMP421/521 prerequisites and the distinctions between formal prerequisites and expected background. Encourage students to assess gaps early and discuss concerns before add/drop. Assignments involve substantial programming and mathematical reasoning.</a:t>
            </a:r>
          </a:p>
          <a:p>
            <a:endParaRPr/>
          </a:p>
          <a:p>
            <a:r>
              <a:t>Source: course/syllabus/syllabusFall26.docx (instructor-frozen September 29, 2026). Course policies remain governed by that syllabus.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delivery: 0:45</a:t>
            </a:r>
          </a:p>
          <a:p>
            <a:endParaRPr/>
          </a:p>
          <a:p>
            <a:r>
              <a:t>Students are responsible for checking university email. Submission rules appear later in this briefing and in the syllabus.</a:t>
            </a:r>
          </a:p>
          <a:p>
            <a:endParaRPr/>
          </a:p>
          <a:p>
            <a:r>
              <a:t>Source: course/syllabus/syllabusFall26.docx (instructor-frozen September 29, 2026). Course policies remain governed by that syllabus.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delivery: 0:30</a:t>
            </a:r>
          </a:p>
          <a:p>
            <a:endParaRPr/>
          </a:p>
          <a:p>
            <a:r>
              <a:t>Students may use the book to revisit explanations. The textbook listing does not introduce required reading or reading-only exam material.</a:t>
            </a:r>
          </a:p>
          <a:p>
            <a:endParaRPr/>
          </a:p>
          <a:p>
            <a:r>
              <a:t>Source: course/syllabus/syllabusFall26.docx (instructor-frozen September 29, 2026). Course policies remain governed by that syllabus.</a:t>
            </a:r>
          </a:p>
          <a:p>
            <a:r>
              <a:t>Reading policy: decisions/reading_decisions.md. Book cover retained from the instructor-supplied deck.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delivery: 0:30</a:t>
            </a:r>
          </a:p>
          <a:p>
            <a:endParaRPr/>
          </a:p>
          <a:p>
            <a:r>
              <a:t>Invite students to ask for clarification. Avoid promising a fixed break schedule or a number of additional videos.</a:t>
            </a:r>
          </a:p>
          <a:p>
            <a:endParaRPr/>
          </a:p>
          <a:p>
            <a:r>
              <a:t>Source: course/syllabus/syllabusFall26.docx (instructor-frozen September 29, 2026). Course policies remain governed by that syllabus.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delivery: 1:45</a:t>
            </a:r>
          </a:p>
          <a:p>
            <a:endParaRPr/>
          </a:p>
          <a:p>
            <a:r>
              <a:t>Assignments provide practice in implementation and experimental reasoning. Exams assess understanding of the taught material. Exact dates and instructions will follow through course communication. Do not turn internal week targets into announced dates.</a:t>
            </a:r>
          </a:p>
          <a:p>
            <a:endParaRPr/>
          </a:p>
          <a:p>
            <a:r>
              <a:t>Source: course/syllabus/syllabusFall26.docx (instructor-frozen September 29, 2026). Course policies remain governed by that syllabus.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delivery: 2:00</a:t>
            </a:r>
          </a:p>
          <a:p>
            <a:endParaRPr/>
          </a:p>
          <a:p>
            <a:r>
              <a:t>Project expectations scale with team size. A well-supported negative result can succeed. Novelty and benchmark superiority are not required. Communicate limitations as well as results. Further project details will follow during the semester.</a:t>
            </a:r>
          </a:p>
          <a:p>
            <a:endParaRPr/>
          </a:p>
          <a:p>
            <a:r>
              <a:t>Source: course/syllabus/syllabusFall26.docx (instructor-frozen September 29, 2026). Course policies remain governed by that syllabus.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delivery: 2:00</a:t>
            </a:r>
          </a:p>
          <a:p>
            <a:endParaRPr/>
          </a:p>
          <a:p>
            <a:r>
              <a:t>The report requirements will be provided before the first assignment/report. The assignment no-credit rule applies specifically to assignment solutions. Do not extend it to project coding or introduce a prompt-count threshold as a grading rubric. Understanding and verification remain the student's responsibility.</a:t>
            </a:r>
          </a:p>
          <a:p>
            <a:endParaRPr/>
          </a:p>
          <a:p>
            <a:r>
              <a:t>Source: course/syllabus/syllabusFall26.docx (instructor-frozen September 29, 2026). Course policies remain governed by that syllabus.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delivery: 1:00</a:t>
            </a:r>
          </a:p>
          <a:p>
            <a:endParaRPr/>
          </a:p>
          <a:p>
            <a:r>
              <a:t>The project writing policy applies to the submitted writing, including writing produced with AI tools. Online or take-home midterms assess students' knowledge of the material. Refer to the syllabus and exam instructions for the applicable rules.</a:t>
            </a:r>
          </a:p>
          <a:p>
            <a:endParaRPr/>
          </a:p>
          <a:p>
            <a:r>
              <a:t>Source: course/syllabus/syllabusFall26.docx (instructor-frozen September 29, 2026). Course policies remain governed by that syllabus.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delivery: 2:00</a:t>
            </a:r>
          </a:p>
          <a:p>
            <a:endParaRPr/>
          </a:p>
          <a:p>
            <a:r>
              <a:t>The server timestamp determines submission time. An appropriate extension will be granted if the system is down. Do not invent a numerical late penalty.</a:t>
            </a:r>
          </a:p>
          <a:p>
            <a:endParaRPr/>
          </a:p>
          <a:p>
            <a:r>
              <a:t>Source: course/syllabus/syllabusFall26.docx (instructor-frozen September 29, 2026). Course policies remain governed by that syllabus.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CB2506-B5EA-4911-8572-DFC476A60B0C}"/>
              </a:ext>
            </a:extLst>
          </p:cNvPr>
          <p:cNvSpPr>
            <a:spLocks noGrp="1"/>
          </p:cNvSpPr>
          <p:nvPr>
            <p:ph type="ctrTitle"/>
          </p:nvPr>
        </p:nvSpPr>
        <p:spPr>
          <a:xfrm>
            <a:off x="914400" y="1122363"/>
            <a:ext cx="10363200" cy="2387600"/>
          </a:xfrm>
        </p:spPr>
        <p:txBody>
          <a:bodyPr anchor="b"/>
          <a:lstStyle>
            <a:lvl1pPr algn="ctr">
              <a:buNone/>
              <a:defRPr sz="6000"/>
            </a:lvl1pPr>
          </a:lstStyle>
          <a:p>
            <a:r>
              <a:t>Click to edit Master title style</a:t>
            </a:r>
          </a:p>
        </p:txBody>
      </p:sp>
      <p:sp>
        <p:nvSpPr>
          <p:cNvPr id="3" name="Subtitle 2">
            <a:extLst>
              <a:ext uri="{FF2B5EF4-FFF2-40B4-BE49-F238E27FC236}">
                <a16:creationId xmlns:a16="http://schemas.microsoft.com/office/drawing/2014/main" id="{00874F75-EA86-45D5-812B-219FCA1582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
        <p:nvSpPr>
          <p:cNvPr id="4" name="Date Placeholder 3">
            <a:extLst>
              <a:ext uri="{FF2B5EF4-FFF2-40B4-BE49-F238E27FC236}">
                <a16:creationId xmlns:a16="http://schemas.microsoft.com/office/drawing/2014/main" id="{678346A1-14CF-4C18-ADFE-267E86DB6E82}"/>
              </a:ext>
            </a:extLst>
          </p:cNvPr>
          <p:cNvSpPr>
            <a:spLocks noGrp="1"/>
          </p:cNvSpPr>
          <p:nvPr>
            <p:ph type="dt" idx="10"/>
          </p:nvPr>
        </p:nvSpPr>
        <p:spPr/>
        <p:txBody>
          <a:bodyPr/>
          <a:lstStyle/>
          <a:p>
            <a:fld id="{3474CB43-3879-4BE1-B152-7A3BBDDDC84E}" type="datetimeFigureOut">
              <a:t>5.10.2026</a:t>
            </a:fld>
            <a:endParaRPr/>
          </a:p>
        </p:txBody>
      </p:sp>
      <p:sp>
        <p:nvSpPr>
          <p:cNvPr id="5" name="Footer Placeholder 4">
            <a:extLst>
              <a:ext uri="{FF2B5EF4-FFF2-40B4-BE49-F238E27FC236}">
                <a16:creationId xmlns:a16="http://schemas.microsoft.com/office/drawing/2014/main" id="{9270F336-B927-47B6-A2BF-590945BD7229}"/>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43C4B42E-067F-432D-82D8-5D8AE609ADAF}"/>
              </a:ext>
            </a:extLst>
          </p:cNvPr>
          <p:cNvSpPr>
            <a:spLocks noGrp="1"/>
          </p:cNvSpPr>
          <p:nvPr>
            <p:ph type="sldNum" idx="12"/>
          </p:nvPr>
        </p:nvSpPr>
        <p:spPr/>
        <p:txBody>
          <a:bodyPr/>
          <a:lstStyle/>
          <a:p>
            <a:fld id="{7282EA73-1417-4115-873F-1039968F04CD}"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2BEA8C-E369-48BE-8BBD-FE3E52A4286A}"/>
              </a:ext>
            </a:extLst>
          </p:cNvPr>
          <p:cNvSpPr>
            <a:spLocks noGrp="1"/>
          </p:cNvSpPr>
          <p:nvPr>
            <p:ph type="title"/>
          </p:nvPr>
        </p:nvSpPr>
        <p:spPr>
          <a:xfrm>
            <a:off x="393095" y="31301"/>
            <a:ext cx="11353800" cy="1325563"/>
          </a:xfrm>
        </p:spPr>
        <p:txBody>
          <a:bodyPr/>
          <a:lstStyle>
            <a:lvl1pPr>
              <a:buNone/>
              <a:defRPr>
                <a:solidFill>
                  <a:srgbClr val="C00000"/>
                </a:solidFill>
              </a:defRPr>
            </a:lvl1pPr>
          </a:lstStyle>
          <a:p>
            <a:r>
              <a:t>Click to edit Master title style</a:t>
            </a:r>
          </a:p>
        </p:txBody>
      </p:sp>
      <p:sp>
        <p:nvSpPr>
          <p:cNvPr id="3" name="Content Placeholder 2">
            <a:extLst>
              <a:ext uri="{FF2B5EF4-FFF2-40B4-BE49-F238E27FC236}">
                <a16:creationId xmlns:a16="http://schemas.microsoft.com/office/drawing/2014/main" id="{A50C1010-1CD0-4C88-9325-73CE0202BCE6}"/>
              </a:ext>
            </a:extLst>
          </p:cNvPr>
          <p:cNvSpPr>
            <a:spLocks noGrp="1"/>
          </p:cNvSpPr>
          <p:nvPr>
            <p:ph idx="1"/>
          </p:nvPr>
        </p:nvSpPr>
        <p:spPr>
          <a:xfrm>
            <a:off x="393095" y="1480457"/>
            <a:ext cx="11353800" cy="4696506"/>
          </a:xfrm>
        </p:spPr>
        <p:txBody>
          <a:bodyPr/>
          <a:lstStyle/>
          <a:p>
            <a:pPr lvl="0">
              <a:buNone/>
            </a:pPr>
            <a:r>
              <a:t>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E2D54129-CB51-43A4-95B4-E6636832C38F}"/>
              </a:ext>
            </a:extLst>
          </p:cNvPr>
          <p:cNvSpPr>
            <a:spLocks noGrp="1"/>
          </p:cNvSpPr>
          <p:nvPr>
            <p:ph type="dt" idx="10"/>
          </p:nvPr>
        </p:nvSpPr>
        <p:spPr/>
        <p:txBody>
          <a:bodyPr/>
          <a:lstStyle/>
          <a:p>
            <a:fld id="{3474CB43-3879-4BE1-B152-7A3BBDDDC84E}" type="datetimeFigureOut">
              <a:t>5.10.2026</a:t>
            </a:fld>
            <a:endParaRPr/>
          </a:p>
        </p:txBody>
      </p:sp>
      <p:sp>
        <p:nvSpPr>
          <p:cNvPr id="5" name="Footer Placeholder 4">
            <a:extLst>
              <a:ext uri="{FF2B5EF4-FFF2-40B4-BE49-F238E27FC236}">
                <a16:creationId xmlns:a16="http://schemas.microsoft.com/office/drawing/2014/main" id="{3E9CA5CD-E55B-47B2-967A-FA11D1806B91}"/>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980FA506-5EAE-4ABD-B87B-E7B117A0E53C}"/>
              </a:ext>
            </a:extLst>
          </p:cNvPr>
          <p:cNvSpPr>
            <a:spLocks noGrp="1"/>
          </p:cNvSpPr>
          <p:nvPr>
            <p:ph type="sldNum" idx="12"/>
          </p:nvPr>
        </p:nvSpPr>
        <p:spPr/>
        <p:txBody>
          <a:bodyPr/>
          <a:lstStyle/>
          <a:p>
            <a:fld id="{7282EA73-1417-4115-873F-1039968F04CD}"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AEFED-5CDE-43AF-87BB-77C623CD7C41}"/>
              </a:ext>
            </a:extLst>
          </p:cNvPr>
          <p:cNvSpPr>
            <a:spLocks noGrp="1"/>
          </p:cNvSpPr>
          <p:nvPr>
            <p:ph type="title"/>
          </p:nvPr>
        </p:nvSpPr>
        <p:spPr>
          <a:xfrm>
            <a:off x="831851" y="1709740"/>
            <a:ext cx="10515600" cy="2852737"/>
          </a:xfrm>
        </p:spPr>
        <p:txBody>
          <a:bodyPr anchor="b"/>
          <a:lstStyle>
            <a:lvl1pPr>
              <a:buNone/>
              <a:defRPr sz="6000"/>
            </a:lvl1pPr>
          </a:lstStyle>
          <a:p>
            <a:r>
              <a:t>Click to edit Master title style</a:t>
            </a:r>
          </a:p>
        </p:txBody>
      </p:sp>
      <p:sp>
        <p:nvSpPr>
          <p:cNvPr id="3" name="Text Placeholder 2">
            <a:extLst>
              <a:ext uri="{FF2B5EF4-FFF2-40B4-BE49-F238E27FC236}">
                <a16:creationId xmlns:a16="http://schemas.microsoft.com/office/drawing/2014/main" id="{28BB417C-7930-4FA4-9A37-D48FED77E443}"/>
              </a:ext>
            </a:extLst>
          </p:cNvPr>
          <p:cNvSpPr>
            <a:spLocks noGrp="1"/>
          </p:cNvSpPr>
          <p:nvPr>
            <p:ph type="body" idx="1"/>
          </p:nvPr>
        </p:nvSpPr>
        <p:spPr>
          <a:xfrm>
            <a:off x="831851" y="4589465"/>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buNone/>
            </a:pPr>
            <a:r>
              <a:t>Edit Master text styles</a:t>
            </a:r>
          </a:p>
        </p:txBody>
      </p:sp>
      <p:sp>
        <p:nvSpPr>
          <p:cNvPr id="4" name="Date Placeholder 3">
            <a:extLst>
              <a:ext uri="{FF2B5EF4-FFF2-40B4-BE49-F238E27FC236}">
                <a16:creationId xmlns:a16="http://schemas.microsoft.com/office/drawing/2014/main" id="{EA20CAC3-8A7A-4B5A-92EC-AEAE07C291EC}"/>
              </a:ext>
            </a:extLst>
          </p:cNvPr>
          <p:cNvSpPr>
            <a:spLocks noGrp="1"/>
          </p:cNvSpPr>
          <p:nvPr>
            <p:ph type="dt" idx="10"/>
          </p:nvPr>
        </p:nvSpPr>
        <p:spPr/>
        <p:txBody>
          <a:bodyPr/>
          <a:lstStyle/>
          <a:p>
            <a:fld id="{3474CB43-3879-4BE1-B152-7A3BBDDDC84E}" type="datetimeFigureOut">
              <a:t>5.10.2026</a:t>
            </a:fld>
            <a:endParaRPr/>
          </a:p>
        </p:txBody>
      </p:sp>
      <p:sp>
        <p:nvSpPr>
          <p:cNvPr id="5" name="Footer Placeholder 4">
            <a:extLst>
              <a:ext uri="{FF2B5EF4-FFF2-40B4-BE49-F238E27FC236}">
                <a16:creationId xmlns:a16="http://schemas.microsoft.com/office/drawing/2014/main" id="{63403246-959A-4122-ACBB-174DA082DC19}"/>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B1A711D8-6208-48CA-B3CA-40C6A2A10B8E}"/>
              </a:ext>
            </a:extLst>
          </p:cNvPr>
          <p:cNvSpPr>
            <a:spLocks noGrp="1"/>
          </p:cNvSpPr>
          <p:nvPr>
            <p:ph type="sldNum" idx="12"/>
          </p:nvPr>
        </p:nvSpPr>
        <p:spPr/>
        <p:txBody>
          <a:bodyPr/>
          <a:lstStyle/>
          <a:p>
            <a:fld id="{7282EA73-1417-4115-873F-1039968F04CD}"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B05A14-105E-45DD-A192-733220A0CE26}"/>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A253D6F2-3200-46ED-A563-34D1BF3C6C5C}"/>
              </a:ext>
            </a:extLst>
          </p:cNvPr>
          <p:cNvSpPr>
            <a:spLocks noGrp="1"/>
          </p:cNvSpPr>
          <p:nvPr>
            <p:ph idx="1"/>
          </p:nvPr>
        </p:nvSpPr>
        <p:spPr>
          <a:xfrm>
            <a:off x="838200" y="1825625"/>
            <a:ext cx="5181600" cy="4351338"/>
          </a:xfrm>
        </p:spPr>
        <p:txBody>
          <a:bodyPr/>
          <a:lstStyle/>
          <a:p>
            <a:pPr lvl="0">
              <a:buNone/>
            </a:pPr>
            <a:r>
              <a:t>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0B6845A1-CE17-4ED2-8094-EBA8E2A716E9}"/>
              </a:ext>
            </a:extLst>
          </p:cNvPr>
          <p:cNvSpPr>
            <a:spLocks noGrp="1"/>
          </p:cNvSpPr>
          <p:nvPr>
            <p:ph idx="2"/>
          </p:nvPr>
        </p:nvSpPr>
        <p:spPr>
          <a:xfrm>
            <a:off x="6172200" y="1825625"/>
            <a:ext cx="5181600" cy="4351338"/>
          </a:xfrm>
        </p:spPr>
        <p:txBody>
          <a:bodyPr/>
          <a:lstStyle/>
          <a:p>
            <a:pPr lvl="0">
              <a:buNone/>
            </a:pPr>
            <a:r>
              <a:t>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DF53F87F-95B7-47A5-A4AF-411ED4BD7049}"/>
              </a:ext>
            </a:extLst>
          </p:cNvPr>
          <p:cNvSpPr>
            <a:spLocks noGrp="1"/>
          </p:cNvSpPr>
          <p:nvPr>
            <p:ph type="dt" idx="10"/>
          </p:nvPr>
        </p:nvSpPr>
        <p:spPr/>
        <p:txBody>
          <a:bodyPr/>
          <a:lstStyle/>
          <a:p>
            <a:fld id="{3474CB43-3879-4BE1-B152-7A3BBDDDC84E}" type="datetimeFigureOut">
              <a:t>5.10.2026</a:t>
            </a:fld>
            <a:endParaRPr/>
          </a:p>
        </p:txBody>
      </p:sp>
      <p:sp>
        <p:nvSpPr>
          <p:cNvPr id="6" name="Footer Placeholder 5">
            <a:extLst>
              <a:ext uri="{FF2B5EF4-FFF2-40B4-BE49-F238E27FC236}">
                <a16:creationId xmlns:a16="http://schemas.microsoft.com/office/drawing/2014/main" id="{E9BEBB6A-4C23-4D09-97F8-AF35374D343A}"/>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C79FA6F3-66DA-49EF-9BF0-A59151482895}"/>
              </a:ext>
            </a:extLst>
          </p:cNvPr>
          <p:cNvSpPr>
            <a:spLocks noGrp="1"/>
          </p:cNvSpPr>
          <p:nvPr>
            <p:ph type="sldNum" idx="12"/>
          </p:nvPr>
        </p:nvSpPr>
        <p:spPr/>
        <p:txBody>
          <a:bodyPr/>
          <a:lstStyle/>
          <a:p>
            <a:fld id="{7282EA73-1417-4115-873F-1039968F04CD}"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0B302-F1C8-40DF-93B0-86332F317D1F}"/>
              </a:ext>
            </a:extLst>
          </p:cNvPr>
          <p:cNvSpPr>
            <a:spLocks noGrp="1"/>
          </p:cNvSpPr>
          <p:nvPr>
            <p:ph type="title"/>
          </p:nvPr>
        </p:nvSpPr>
        <p:spPr>
          <a:xfrm>
            <a:off x="839788" y="365127"/>
            <a:ext cx="10515600" cy="1325563"/>
          </a:xfrm>
        </p:spPr>
        <p:txBody>
          <a:bodyPr/>
          <a:lstStyle/>
          <a:p>
            <a:r>
              <a:t>Click to edit Master title style</a:t>
            </a:r>
          </a:p>
        </p:txBody>
      </p:sp>
      <p:sp>
        <p:nvSpPr>
          <p:cNvPr id="3" name="Text Placeholder 2">
            <a:extLst>
              <a:ext uri="{FF2B5EF4-FFF2-40B4-BE49-F238E27FC236}">
                <a16:creationId xmlns:a16="http://schemas.microsoft.com/office/drawing/2014/main" id="{7F8DE34F-691A-4BE5-B33C-53167F3A5F41}"/>
              </a:ext>
            </a:extLst>
          </p:cNvPr>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Edit Master text styles</a:t>
            </a:r>
          </a:p>
        </p:txBody>
      </p:sp>
      <p:sp>
        <p:nvSpPr>
          <p:cNvPr id="4" name="Content Placeholder 3">
            <a:extLst>
              <a:ext uri="{FF2B5EF4-FFF2-40B4-BE49-F238E27FC236}">
                <a16:creationId xmlns:a16="http://schemas.microsoft.com/office/drawing/2014/main" id="{9B69B6C6-D7CB-41F0-93CD-60E7615A040E}"/>
              </a:ext>
            </a:extLst>
          </p:cNvPr>
          <p:cNvSpPr>
            <a:spLocks noGrp="1"/>
          </p:cNvSpPr>
          <p:nvPr>
            <p:ph idx="2"/>
          </p:nvPr>
        </p:nvSpPr>
        <p:spPr>
          <a:xfrm>
            <a:off x="839789" y="2505075"/>
            <a:ext cx="5157787" cy="3684588"/>
          </a:xfrm>
        </p:spPr>
        <p:txBody>
          <a:bodyPr/>
          <a:lstStyle/>
          <a:p>
            <a:pPr lvl="0">
              <a:buNone/>
            </a:pPr>
            <a:r>
              <a:t>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EC43AB0F-EAC9-4451-AB5E-97844027F8AF}"/>
              </a:ext>
            </a:extLst>
          </p:cNvPr>
          <p:cNvSpPr>
            <a:spLocks noGrp="1"/>
          </p:cNvSpPr>
          <p:nvPr>
            <p:ph type="body"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Edit Master text styles</a:t>
            </a:r>
          </a:p>
        </p:txBody>
      </p:sp>
      <p:sp>
        <p:nvSpPr>
          <p:cNvPr id="6" name="Content Placeholder 5">
            <a:extLst>
              <a:ext uri="{FF2B5EF4-FFF2-40B4-BE49-F238E27FC236}">
                <a16:creationId xmlns:a16="http://schemas.microsoft.com/office/drawing/2014/main" id="{4C64C63A-1F2C-414A-A31B-58FD2AD498F3}"/>
              </a:ext>
            </a:extLst>
          </p:cNvPr>
          <p:cNvSpPr>
            <a:spLocks noGrp="1"/>
          </p:cNvSpPr>
          <p:nvPr>
            <p:ph idx="4"/>
          </p:nvPr>
        </p:nvSpPr>
        <p:spPr>
          <a:xfrm>
            <a:off x="6172201" y="2505075"/>
            <a:ext cx="5183188" cy="3684588"/>
          </a:xfrm>
        </p:spPr>
        <p:txBody>
          <a:bodyPr/>
          <a:lstStyle/>
          <a:p>
            <a:pPr lvl="0">
              <a:buNone/>
            </a:pPr>
            <a:r>
              <a:t>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4C3FF05A-15D7-4131-9AD8-E1D6F68CB17B}"/>
              </a:ext>
            </a:extLst>
          </p:cNvPr>
          <p:cNvSpPr>
            <a:spLocks noGrp="1"/>
          </p:cNvSpPr>
          <p:nvPr>
            <p:ph type="dt" idx="10"/>
          </p:nvPr>
        </p:nvSpPr>
        <p:spPr/>
        <p:txBody>
          <a:bodyPr/>
          <a:lstStyle/>
          <a:p>
            <a:fld id="{3474CB43-3879-4BE1-B152-7A3BBDDDC84E}" type="datetimeFigureOut">
              <a:t>5.10.2026</a:t>
            </a:fld>
            <a:endParaRPr/>
          </a:p>
        </p:txBody>
      </p:sp>
      <p:sp>
        <p:nvSpPr>
          <p:cNvPr id="8" name="Footer Placeholder 7">
            <a:extLst>
              <a:ext uri="{FF2B5EF4-FFF2-40B4-BE49-F238E27FC236}">
                <a16:creationId xmlns:a16="http://schemas.microsoft.com/office/drawing/2014/main" id="{95E0CD35-AE25-4D84-B8D0-DEA2A3A5D9EA}"/>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1C01E86C-5FC8-4383-A3FF-684045A08B4C}"/>
              </a:ext>
            </a:extLst>
          </p:cNvPr>
          <p:cNvSpPr>
            <a:spLocks noGrp="1"/>
          </p:cNvSpPr>
          <p:nvPr>
            <p:ph type="sldNum" idx="12"/>
          </p:nvPr>
        </p:nvSpPr>
        <p:spPr/>
        <p:txBody>
          <a:bodyPr/>
          <a:lstStyle/>
          <a:p>
            <a:fld id="{7282EA73-1417-4115-873F-1039968F04CD}"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DC4F2-DAC4-4165-8A25-97C39F5AB316}"/>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4F0625AE-9980-4136-9871-D674CBAE76FF}"/>
              </a:ext>
            </a:extLst>
          </p:cNvPr>
          <p:cNvSpPr>
            <a:spLocks noGrp="1"/>
          </p:cNvSpPr>
          <p:nvPr>
            <p:ph type="dt" idx="10"/>
          </p:nvPr>
        </p:nvSpPr>
        <p:spPr/>
        <p:txBody>
          <a:bodyPr/>
          <a:lstStyle/>
          <a:p>
            <a:fld id="{3474CB43-3879-4BE1-B152-7A3BBDDDC84E}" type="datetimeFigureOut">
              <a:t>5.10.2026</a:t>
            </a:fld>
            <a:endParaRPr/>
          </a:p>
        </p:txBody>
      </p:sp>
      <p:sp>
        <p:nvSpPr>
          <p:cNvPr id="4" name="Footer Placeholder 3">
            <a:extLst>
              <a:ext uri="{FF2B5EF4-FFF2-40B4-BE49-F238E27FC236}">
                <a16:creationId xmlns:a16="http://schemas.microsoft.com/office/drawing/2014/main" id="{9E22B266-EB0E-4350-A6F3-DB2ABB5051BA}"/>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AEDBD16D-0F8E-4BC1-AEF2-B4CB86A8E88D}"/>
              </a:ext>
            </a:extLst>
          </p:cNvPr>
          <p:cNvSpPr>
            <a:spLocks noGrp="1"/>
          </p:cNvSpPr>
          <p:nvPr>
            <p:ph type="sldNum" idx="12"/>
          </p:nvPr>
        </p:nvSpPr>
        <p:spPr/>
        <p:txBody>
          <a:bodyPr/>
          <a:lstStyle/>
          <a:p>
            <a:fld id="{7282EA73-1417-4115-873F-1039968F04CD}"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AE1659E-BE48-4873-8020-6FF0DC88A3BF}"/>
              </a:ext>
            </a:extLst>
          </p:cNvPr>
          <p:cNvSpPr>
            <a:spLocks noGrp="1"/>
          </p:cNvSpPr>
          <p:nvPr>
            <p:ph type="dt" idx="10"/>
          </p:nvPr>
        </p:nvSpPr>
        <p:spPr/>
        <p:txBody>
          <a:bodyPr/>
          <a:lstStyle/>
          <a:p>
            <a:fld id="{3474CB43-3879-4BE1-B152-7A3BBDDDC84E}" type="datetimeFigureOut">
              <a:t>5.10.2026</a:t>
            </a:fld>
            <a:endParaRPr/>
          </a:p>
        </p:txBody>
      </p:sp>
      <p:sp>
        <p:nvSpPr>
          <p:cNvPr id="3" name="Footer Placeholder 2">
            <a:extLst>
              <a:ext uri="{FF2B5EF4-FFF2-40B4-BE49-F238E27FC236}">
                <a16:creationId xmlns:a16="http://schemas.microsoft.com/office/drawing/2014/main" id="{2BAFFA4A-4771-49AE-983F-A39090F20C49}"/>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BF58A3DE-EDA0-4CCE-848C-A23D8B6F1FAB}"/>
              </a:ext>
            </a:extLst>
          </p:cNvPr>
          <p:cNvSpPr>
            <a:spLocks noGrp="1"/>
          </p:cNvSpPr>
          <p:nvPr>
            <p:ph type="sldNum" idx="12"/>
          </p:nvPr>
        </p:nvSpPr>
        <p:spPr/>
        <p:txBody>
          <a:bodyPr/>
          <a:lstStyle/>
          <a:p>
            <a:fld id="{7282EA73-1417-4115-873F-1039968F04CD}"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55E478-4D11-4B31-AE6A-A5236E62DA6B}"/>
              </a:ext>
            </a:extLst>
          </p:cNvPr>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Content Placeholder 2">
            <a:extLst>
              <a:ext uri="{FF2B5EF4-FFF2-40B4-BE49-F238E27FC236}">
                <a16:creationId xmlns:a16="http://schemas.microsoft.com/office/drawing/2014/main" id="{29967DF5-DCFC-47B8-8889-75788720CADA}"/>
              </a:ext>
            </a:extLst>
          </p:cNvPr>
          <p:cNvSpPr>
            <a:spLocks noGrp="1"/>
          </p:cNvSpPr>
          <p:nvPr>
            <p:ph idx="1"/>
          </p:nvPr>
        </p:nvSpPr>
        <p:spPr>
          <a:xfrm>
            <a:off x="5183188" y="987427"/>
            <a:ext cx="6172200" cy="4873625"/>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E01E1A1B-5585-4046-8E15-CCEFEE9CE3F6}"/>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Edit Master text styles</a:t>
            </a:r>
          </a:p>
        </p:txBody>
      </p:sp>
      <p:sp>
        <p:nvSpPr>
          <p:cNvPr id="5" name="Date Placeholder 4">
            <a:extLst>
              <a:ext uri="{FF2B5EF4-FFF2-40B4-BE49-F238E27FC236}">
                <a16:creationId xmlns:a16="http://schemas.microsoft.com/office/drawing/2014/main" id="{916C7174-3DB5-4282-8242-ACAFBDF765A8}"/>
              </a:ext>
            </a:extLst>
          </p:cNvPr>
          <p:cNvSpPr>
            <a:spLocks noGrp="1"/>
          </p:cNvSpPr>
          <p:nvPr>
            <p:ph type="dt" idx="10"/>
          </p:nvPr>
        </p:nvSpPr>
        <p:spPr/>
        <p:txBody>
          <a:bodyPr/>
          <a:lstStyle/>
          <a:p>
            <a:fld id="{3474CB43-3879-4BE1-B152-7A3BBDDDC84E}" type="datetimeFigureOut">
              <a:t>5.10.2026</a:t>
            </a:fld>
            <a:endParaRPr/>
          </a:p>
        </p:txBody>
      </p:sp>
      <p:sp>
        <p:nvSpPr>
          <p:cNvPr id="6" name="Footer Placeholder 5">
            <a:extLst>
              <a:ext uri="{FF2B5EF4-FFF2-40B4-BE49-F238E27FC236}">
                <a16:creationId xmlns:a16="http://schemas.microsoft.com/office/drawing/2014/main" id="{F099B083-CEE5-456B-8C23-DE26C7DBD134}"/>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86A76181-378B-4626-A994-DBF624B1DFCF}"/>
              </a:ext>
            </a:extLst>
          </p:cNvPr>
          <p:cNvSpPr>
            <a:spLocks noGrp="1"/>
          </p:cNvSpPr>
          <p:nvPr>
            <p:ph type="sldNum" idx="12"/>
          </p:nvPr>
        </p:nvSpPr>
        <p:spPr/>
        <p:txBody>
          <a:bodyPr/>
          <a:lstStyle/>
          <a:p>
            <a:fld id="{7282EA73-1417-4115-873F-1039968F04CD}"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C91B3-CEA0-4189-B4A5-949E851635BC}"/>
              </a:ext>
            </a:extLst>
          </p:cNvPr>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Picture Placeholder 2">
            <a:extLst>
              <a:ext uri="{FF2B5EF4-FFF2-40B4-BE49-F238E27FC236}">
                <a16:creationId xmlns:a16="http://schemas.microsoft.com/office/drawing/2014/main" id="{BA63213D-C191-4625-944F-0AE14E6EBFF4}"/>
              </a:ext>
            </a:extLst>
          </p:cNvPr>
          <p:cNvSpPr>
            <a:spLocks noGrp="1"/>
          </p:cNvSpPr>
          <p:nvPr>
            <p:ph type="pic" idx="1"/>
          </p:nvPr>
        </p:nvSpPr>
        <p:spPr>
          <a:xfrm>
            <a:off x="5183188"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t>Click icon to add picture</a:t>
            </a:r>
          </a:p>
        </p:txBody>
      </p:sp>
      <p:sp>
        <p:nvSpPr>
          <p:cNvPr id="4" name="Text Placeholder 3">
            <a:extLst>
              <a:ext uri="{FF2B5EF4-FFF2-40B4-BE49-F238E27FC236}">
                <a16:creationId xmlns:a16="http://schemas.microsoft.com/office/drawing/2014/main" id="{D4FBD801-BC23-45C1-826A-BF7EC5C3D2C0}"/>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Edit Master text styles</a:t>
            </a:r>
          </a:p>
        </p:txBody>
      </p:sp>
      <p:sp>
        <p:nvSpPr>
          <p:cNvPr id="5" name="Date Placeholder 4">
            <a:extLst>
              <a:ext uri="{FF2B5EF4-FFF2-40B4-BE49-F238E27FC236}">
                <a16:creationId xmlns:a16="http://schemas.microsoft.com/office/drawing/2014/main" id="{61BFA173-CCC2-44E9-BAB0-B3C7162260CE}"/>
              </a:ext>
            </a:extLst>
          </p:cNvPr>
          <p:cNvSpPr>
            <a:spLocks noGrp="1"/>
          </p:cNvSpPr>
          <p:nvPr>
            <p:ph type="dt" idx="10"/>
          </p:nvPr>
        </p:nvSpPr>
        <p:spPr/>
        <p:txBody>
          <a:bodyPr/>
          <a:lstStyle/>
          <a:p>
            <a:fld id="{3474CB43-3879-4BE1-B152-7A3BBDDDC84E}" type="datetimeFigureOut">
              <a:t>5.10.2026</a:t>
            </a:fld>
            <a:endParaRPr/>
          </a:p>
        </p:txBody>
      </p:sp>
      <p:sp>
        <p:nvSpPr>
          <p:cNvPr id="6" name="Footer Placeholder 5">
            <a:extLst>
              <a:ext uri="{FF2B5EF4-FFF2-40B4-BE49-F238E27FC236}">
                <a16:creationId xmlns:a16="http://schemas.microsoft.com/office/drawing/2014/main" id="{E9D9AE13-B87D-4A80-8E2A-523C2281091E}"/>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F7BDADD9-B972-4D31-AB9E-833216CB345A}"/>
              </a:ext>
            </a:extLst>
          </p:cNvPr>
          <p:cNvSpPr>
            <a:spLocks noGrp="1"/>
          </p:cNvSpPr>
          <p:nvPr>
            <p:ph type="sldNum" idx="12"/>
          </p:nvPr>
        </p:nvSpPr>
        <p:spPr/>
        <p:txBody>
          <a:bodyPr/>
          <a:lstStyle/>
          <a:p>
            <a:fld id="{7282EA73-1417-4115-873F-1039968F04CD}"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66C7AD-7CA4-4A74-9A9C-830986890800}"/>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0F40BD10-7A1F-43C0-9851-3EF479D56ACF}"/>
              </a:ext>
            </a:extLst>
          </p:cNvPr>
          <p:cNvSpPr>
            <a:spLocks noGrp="1"/>
          </p:cNvSpPr>
          <p:nvPr>
            <p:ph type="body" idx="1"/>
          </p:nvPr>
        </p:nvSpPr>
        <p:spPr/>
        <p:txBody>
          <a:bodyPr vert="eaVert"/>
          <a:lstStyle/>
          <a:p>
            <a:pPr lvl="0">
              <a:buNone/>
            </a:pPr>
            <a:r>
              <a:t>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96CCE181-B9E8-4A05-9E82-B6E2439944D6}"/>
              </a:ext>
            </a:extLst>
          </p:cNvPr>
          <p:cNvSpPr>
            <a:spLocks noGrp="1"/>
          </p:cNvSpPr>
          <p:nvPr>
            <p:ph type="dt" idx="10"/>
          </p:nvPr>
        </p:nvSpPr>
        <p:spPr/>
        <p:txBody>
          <a:bodyPr/>
          <a:lstStyle/>
          <a:p>
            <a:fld id="{3474CB43-3879-4BE1-B152-7A3BBDDDC84E}" type="datetimeFigureOut">
              <a:t>5.10.2026</a:t>
            </a:fld>
            <a:endParaRPr/>
          </a:p>
        </p:txBody>
      </p:sp>
      <p:sp>
        <p:nvSpPr>
          <p:cNvPr id="5" name="Footer Placeholder 4">
            <a:extLst>
              <a:ext uri="{FF2B5EF4-FFF2-40B4-BE49-F238E27FC236}">
                <a16:creationId xmlns:a16="http://schemas.microsoft.com/office/drawing/2014/main" id="{795A4C6A-FA15-4E5B-8487-BEF367D861DA}"/>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B2699948-1FD3-463F-BE75-1453EDA09D79}"/>
              </a:ext>
            </a:extLst>
          </p:cNvPr>
          <p:cNvSpPr>
            <a:spLocks noGrp="1"/>
          </p:cNvSpPr>
          <p:nvPr>
            <p:ph type="sldNum" idx="12"/>
          </p:nvPr>
        </p:nvSpPr>
        <p:spPr/>
        <p:txBody>
          <a:bodyPr/>
          <a:lstStyle/>
          <a:p>
            <a:fld id="{7282EA73-1417-4115-873F-1039968F04CD}"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37D59C7-9FC4-466D-9454-2661CFAA1778}"/>
              </a:ext>
            </a:extLst>
          </p:cNvPr>
          <p:cNvSpPr>
            <a:spLocks noGrp="1"/>
          </p:cNvSpPr>
          <p:nvPr>
            <p:ph type="title"/>
          </p:nvPr>
        </p:nvSpPr>
        <p:spPr>
          <a:xfrm>
            <a:off x="8724901" y="365125"/>
            <a:ext cx="2628900" cy="5811838"/>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EE65BE41-3F1B-4FC0-9D79-5E5B0AC81065}"/>
              </a:ext>
            </a:extLst>
          </p:cNvPr>
          <p:cNvSpPr>
            <a:spLocks noGrp="1"/>
          </p:cNvSpPr>
          <p:nvPr>
            <p:ph type="body" idx="1"/>
          </p:nvPr>
        </p:nvSpPr>
        <p:spPr>
          <a:xfrm>
            <a:off x="838201" y="365125"/>
            <a:ext cx="7734300" cy="5811838"/>
          </a:xfrm>
        </p:spPr>
        <p:txBody>
          <a:bodyPr vert="eaVert"/>
          <a:lstStyle/>
          <a:p>
            <a:pPr lvl="0">
              <a:buNone/>
            </a:pPr>
            <a:r>
              <a:t>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C1D1B774-C73C-42C2-933C-CBBDCF72DA69}"/>
              </a:ext>
            </a:extLst>
          </p:cNvPr>
          <p:cNvSpPr>
            <a:spLocks noGrp="1"/>
          </p:cNvSpPr>
          <p:nvPr>
            <p:ph type="dt" idx="10"/>
          </p:nvPr>
        </p:nvSpPr>
        <p:spPr/>
        <p:txBody>
          <a:bodyPr/>
          <a:lstStyle/>
          <a:p>
            <a:fld id="{3474CB43-3879-4BE1-B152-7A3BBDDDC84E}" type="datetimeFigureOut">
              <a:t>5.10.2026</a:t>
            </a:fld>
            <a:endParaRPr/>
          </a:p>
        </p:txBody>
      </p:sp>
      <p:sp>
        <p:nvSpPr>
          <p:cNvPr id="5" name="Footer Placeholder 4">
            <a:extLst>
              <a:ext uri="{FF2B5EF4-FFF2-40B4-BE49-F238E27FC236}">
                <a16:creationId xmlns:a16="http://schemas.microsoft.com/office/drawing/2014/main" id="{AE4ADE90-37C4-48E7-ADF9-0E7D185C45DB}"/>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9CBE99AC-DBA8-4AE7-95DA-39F42D13F86C}"/>
              </a:ext>
            </a:extLst>
          </p:cNvPr>
          <p:cNvSpPr>
            <a:spLocks noGrp="1"/>
          </p:cNvSpPr>
          <p:nvPr>
            <p:ph type="sldNum" idx="12"/>
          </p:nvPr>
        </p:nvSpPr>
        <p:spPr/>
        <p:txBody>
          <a:bodyPr/>
          <a:lstStyle/>
          <a:p>
            <a:fld id="{7282EA73-1417-4115-873F-1039968F04CD}"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2B9C721-5466-476C-BAF8-6F856B4F2E54}"/>
              </a:ext>
            </a:extLst>
          </p:cNvPr>
          <p:cNvSpPr>
            <a:spLocks noGrp="1"/>
          </p:cNvSpPr>
          <p:nvPr>
            <p:ph type="title"/>
          </p:nvPr>
        </p:nvSpPr>
        <p:spPr>
          <a:xfrm>
            <a:off x="838200" y="365127"/>
            <a:ext cx="10515600" cy="1325563"/>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5E09F2A5-9E5A-4BD9-98E5-1E242C7B9283}"/>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D5770DA2-4595-4884-8147-42CDE2E58CD3}"/>
              </a:ext>
            </a:extLst>
          </p:cNvPr>
          <p:cNvSpPr>
            <a:spLocks noGrp="1"/>
          </p:cNvSpPr>
          <p:nvPr>
            <p:ph type="dt" idx="2"/>
          </p:nvPr>
        </p:nvSpPr>
        <p:spPr>
          <a:xfrm>
            <a:off x="838200" y="6356352"/>
            <a:ext cx="27432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3474CB43-3879-4BE1-B152-7A3BBDDDC84E}" type="datetimeFigureOut">
              <a:t>5.10.2026</a:t>
            </a:fld>
            <a:endParaRPr/>
          </a:p>
        </p:txBody>
      </p:sp>
      <p:sp>
        <p:nvSpPr>
          <p:cNvPr id="5" name="Footer Placeholder 4">
            <a:extLst>
              <a:ext uri="{FF2B5EF4-FFF2-40B4-BE49-F238E27FC236}">
                <a16:creationId xmlns:a16="http://schemas.microsoft.com/office/drawing/2014/main" id="{A7055D13-1A61-43E2-A0B1-B9894EE61DC1}"/>
              </a:ext>
            </a:extLst>
          </p:cNvPr>
          <p:cNvSpPr>
            <a:spLocks noGrp="1"/>
          </p:cNvSpPr>
          <p:nvPr>
            <p:ph type="ftr" idx="3"/>
          </p:nvPr>
        </p:nvSpPr>
        <p:spPr>
          <a:xfrm>
            <a:off x="4038600" y="6356352"/>
            <a:ext cx="41148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Slide Number Placeholder 5">
            <a:extLst>
              <a:ext uri="{FF2B5EF4-FFF2-40B4-BE49-F238E27FC236}">
                <a16:creationId xmlns:a16="http://schemas.microsoft.com/office/drawing/2014/main" id="{09710C63-3C40-4D81-B48C-A99CA6D59354}"/>
              </a:ext>
            </a:extLst>
          </p:cNvPr>
          <p:cNvSpPr>
            <a:spLocks noGrp="1"/>
          </p:cNvSpPr>
          <p:nvPr>
            <p:ph type="sldNum" idx="4"/>
          </p:nvPr>
        </p:nvSpPr>
        <p:spPr>
          <a:xfrm>
            <a:off x="8610600" y="6356352"/>
            <a:ext cx="27432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7282EA73-1417-4115-873F-1039968F04C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mailto:baakgun@ku.edu.tr"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drive.google.com/file/d/1un-4XQckmVocyYSlkC8AUX07D3FjHdNj/view?usp=share_link"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hyperlink" Target="http://incompleteideas.net/book/the-book.html" TargetMode="Externa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github.com/MathFoundationRL/Book-Mathematical-Foundation-of-Reinforcement-Learning" TargetMode="External"/><Relationship Id="rId7" Type="http://schemas.openxmlformats.org/officeDocument/2006/relationships/hyperlink" Target="https://arxiv.org/abs/2412.05265" TargetMode="External"/><Relationship Id="rId2" Type="http://schemas.openxmlformats.org/officeDocument/2006/relationships/hyperlink" Target="https://www.davidsilver.uk/teaching/" TargetMode="External"/><Relationship Id="rId1" Type="http://schemas.openxmlformats.org/officeDocument/2006/relationships/slideLayout" Target="../slideLayouts/slideLayout2.xml"/><Relationship Id="rId6" Type="http://schemas.openxmlformats.org/officeDocument/2006/relationships/hyperlink" Target="https://cs224r.stanford.edu/" TargetMode="External"/><Relationship Id="rId5" Type="http://schemas.openxmlformats.org/officeDocument/2006/relationships/hyperlink" Target="https://web.stanford.edu/class/cs234/" TargetMode="External"/><Relationship Id="rId4" Type="http://schemas.openxmlformats.org/officeDocument/2006/relationships/hyperlink" Target="https://rail.eecs.berkeley.edu/deeprlcours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107A7-0833-4269-A12A-4430B57D37B1}"/>
              </a:ext>
            </a:extLst>
          </p:cNvPr>
          <p:cNvSpPr>
            <a:spLocks noGrp="1"/>
          </p:cNvSpPr>
          <p:nvPr>
            <p:ph type="ctrTitle"/>
          </p:nvPr>
        </p:nvSpPr>
        <p:spPr>
          <a:xfrm>
            <a:off x="0" y="1000125"/>
            <a:ext cx="12192000" cy="4619625"/>
          </a:xfrm>
        </p:spPr>
        <p:txBody>
          <a:bodyPr wrap="square" lIns="91440" tIns="45720" rIns="91440" bIns="45720" anchor="t">
            <a:noAutofit/>
          </a:bodyPr>
          <a:lstStyle/>
          <a:p>
            <a:pPr algn="ctr">
              <a:spcAft>
                <a:spcPts val="900"/>
              </a:spcAft>
              <a:defRPr sz="3200" b="0">
                <a:solidFill>
                  <a:srgbClr val="000000"/>
                </a:solidFill>
                <a:latin typeface="Calibri Light"/>
                <a:ea typeface="Calibri Light"/>
                <a:cs typeface="Calibri Light"/>
              </a:defRPr>
            </a:pPr>
            <a:r>
              <a:rPr sz="4400">
                <a:solidFill>
                  <a:srgbClr val="C00000"/>
                </a:solidFill>
              </a:rPr>
              <a:t>Reinforcement Learning</a:t>
            </a:r>
          </a:p>
          <a:p>
            <a:pPr algn="ctr">
              <a:spcAft>
                <a:spcPts val="2400"/>
              </a:spcAft>
              <a:defRPr sz="3200" b="0">
                <a:solidFill>
                  <a:srgbClr val="000000"/>
                </a:solidFill>
                <a:latin typeface="Calibri Light"/>
                <a:ea typeface="Calibri Light"/>
                <a:cs typeface="Calibri Light"/>
              </a:defRPr>
            </a:pPr>
            <a:r>
              <a:rPr sz="3200">
                <a:solidFill>
                  <a:srgbClr val="C00000"/>
                </a:solidFill>
              </a:rPr>
              <a:t>COMP438/538 · Fall 2026</a:t>
            </a:r>
          </a:p>
          <a:p>
            <a:pPr algn="ctr">
              <a:spcAft>
                <a:spcPts val="2600"/>
              </a:spcAft>
              <a:defRPr sz="3200" b="0">
                <a:solidFill>
                  <a:srgbClr val="000000"/>
                </a:solidFill>
                <a:latin typeface="Calibri Light"/>
                <a:ea typeface="Calibri Light"/>
                <a:cs typeface="Calibri Light"/>
              </a:defRPr>
            </a:pPr>
            <a:r>
              <a:rPr sz="3200"/>
              <a:t>Nuts and bolts</a:t>
            </a:r>
          </a:p>
          <a:p>
            <a:pPr algn="ctr">
              <a:spcAft>
                <a:spcPts val="400"/>
              </a:spcAft>
              <a:defRPr sz="3200" b="0">
                <a:solidFill>
                  <a:srgbClr val="000000"/>
                </a:solidFill>
                <a:latin typeface="Calibri Light"/>
                <a:ea typeface="Calibri Light"/>
                <a:cs typeface="Calibri Light"/>
              </a:defRPr>
            </a:pPr>
            <a:r>
              <a:rPr sz="3200"/>
              <a:t>Barış Akgün</a:t>
            </a:r>
          </a:p>
          <a:p>
            <a:pPr algn="ctr">
              <a:defRPr sz="3200" b="0">
                <a:solidFill>
                  <a:srgbClr val="000000"/>
                </a:solidFill>
                <a:latin typeface="Calibri Light"/>
                <a:ea typeface="Calibri Light"/>
                <a:cs typeface="Calibri Light"/>
              </a:defRPr>
            </a:pPr>
            <a:r>
              <a:rPr sz="2800"/>
              <a:t>Koç University</a:t>
            </a:r>
          </a:p>
        </p:txBody>
      </p:sp>
    </p:spTree>
    <p:extLst>
      <p:ext uri="{BB962C8B-B14F-4D97-AF65-F5344CB8AC3E}">
        <p14:creationId xmlns:p14="http://schemas.microsoft.com/office/powerpoint/2010/main" val="28398874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12C6F7-7422-425E-AD50-9EDE30E74315}"/>
              </a:ext>
            </a:extLst>
          </p:cNvPr>
          <p:cNvSpPr>
            <a:spLocks noGrp="1"/>
          </p:cNvSpPr>
          <p:nvPr>
            <p:ph type="title"/>
          </p:nvPr>
        </p:nvSpPr>
        <p:spPr>
          <a:xfrm>
            <a:off x="393097" y="31337"/>
            <a:ext cx="11353800" cy="1325594"/>
          </a:xfrm>
        </p:spPr>
        <p:txBody>
          <a:bodyPr wrap="square" lIns="91440" tIns="45720" rIns="91440" bIns="45720" anchor="ctr">
            <a:noAutofit/>
          </a:bodyPr>
          <a:lstStyle/>
          <a:p>
            <a:pPr marL="0" indent="0" algn="l">
              <a:buNone/>
              <a:defRPr sz="4400" b="0">
                <a:solidFill>
                  <a:srgbClr val="C00000"/>
                </a:solidFill>
                <a:latin typeface="Calibri Light"/>
                <a:ea typeface="Calibri Light"/>
                <a:cs typeface="Calibri Light"/>
              </a:defRPr>
            </a:pPr>
            <a:r>
              <a:rPr sz="4400" b="0">
                <a:solidFill>
                  <a:srgbClr val="C00000"/>
                </a:solidFill>
                <a:latin typeface="Calibri Light"/>
                <a:ea typeface="Calibri Light"/>
                <a:cs typeface="Calibri Light"/>
              </a:rPr>
              <a:t>Instructor and contact</a:t>
            </a:r>
          </a:p>
        </p:txBody>
      </p:sp>
      <p:pic>
        <p:nvPicPr>
          <p:cNvPr id="11" name="Picture 6"/>
          <p:cNvPicPr>
            <a:picLocks noChangeAspect="1"/>
          </p:cNvPicPr>
          <p:nvPr/>
        </p:nvPicPr>
        <p:blipFill>
          <a:blip r:embed="rId3"/>
          <a:stretch>
            <a:fillRect/>
          </a:stretch>
        </p:blipFill>
        <p:spPr>
          <a:xfrm>
            <a:off x="858982" y="1229217"/>
            <a:ext cx="2738718" cy="3611050"/>
          </a:xfrm>
          <a:prstGeom prst="rect">
            <a:avLst/>
          </a:prstGeom>
        </p:spPr>
      </p:pic>
      <p:sp>
        <p:nvSpPr>
          <p:cNvPr id="8" name="Content Placeholder 2">
            <a:extLst>
              <a:ext uri="{FF2B5EF4-FFF2-40B4-BE49-F238E27FC236}">
                <a16:creationId xmlns:a16="http://schemas.microsoft.com/office/drawing/2014/main" id="{0301CED4-7292-4541-A99F-2FA9BCFEF3EE}"/>
              </a:ext>
            </a:extLst>
          </p:cNvPr>
          <p:cNvSpPr>
            <a:spLocks noGrp="1"/>
          </p:cNvSpPr>
          <p:nvPr/>
        </p:nvSpPr>
        <p:spPr>
          <a:xfrm>
            <a:off x="4102132" y="1476375"/>
            <a:ext cx="7429500" cy="4572000"/>
          </a:xfrm>
          <a:prstGeom prst="rect">
            <a:avLst/>
          </a:prstGeom>
        </p:spPr>
        <p:txBody>
          <a:bodyPr vert="horz" wrap="square" lIns="91440" tIns="45720" rIns="91440" bIns="45720" anchor="t">
            <a:noAutofit/>
          </a:bodyPr>
          <a:lst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lgn="l">
              <a:spcAft>
                <a:spcPts val="1800"/>
              </a:spcAft>
              <a:buNone/>
              <a:defRPr sz="2600" b="0">
                <a:solidFill>
                  <a:srgbClr val="000000"/>
                </a:solidFill>
                <a:latin typeface="Calibri"/>
                <a:ea typeface="Calibri"/>
                <a:cs typeface="Calibri"/>
              </a:defRPr>
            </a:pPr>
            <a:r>
              <a:rPr sz="2600" b="0" dirty="0">
                <a:solidFill>
                  <a:srgbClr val="000000"/>
                </a:solidFill>
                <a:latin typeface="Calibri"/>
                <a:ea typeface="Calibri"/>
                <a:cs typeface="Calibri"/>
              </a:rPr>
              <a:t>Barış Akgün</a:t>
            </a:r>
          </a:p>
          <a:p>
            <a:pPr marL="0" indent="0" algn="l">
              <a:spcAft>
                <a:spcPts val="1800"/>
              </a:spcAft>
              <a:buNone/>
              <a:defRPr sz="2600" b="0">
                <a:solidFill>
                  <a:srgbClr val="000000"/>
                </a:solidFill>
                <a:latin typeface="Calibri"/>
                <a:ea typeface="Calibri"/>
                <a:cs typeface="Calibri"/>
              </a:defRPr>
            </a:pPr>
            <a:r>
              <a:rPr sz="2600" b="0" u="sng" dirty="0">
                <a:solidFill>
                  <a:srgbClr val="000000"/>
                </a:solidFill>
                <a:latin typeface="Calibri"/>
                <a:ea typeface="Calibri"/>
                <a:cs typeface="Calibri"/>
                <a:hlinkClick r:id="rId4"/>
              </a:rPr>
              <a:t>baakgun@ku.edu.tr</a:t>
            </a:r>
          </a:p>
          <a:p>
            <a:pPr marL="228600" indent="-165100" algn="l">
              <a:spcAft>
                <a:spcPts val="1800"/>
              </a:spcAft>
              <a:buChar char="•"/>
              <a:defRPr sz="2600" b="0">
                <a:solidFill>
                  <a:srgbClr val="000000"/>
                </a:solidFill>
                <a:latin typeface="Calibri"/>
                <a:ea typeface="Calibri"/>
                <a:cs typeface="Calibri"/>
              </a:defRPr>
            </a:pPr>
            <a:r>
              <a:rPr lang="tr-TR" sz="2600" b="0" dirty="0" err="1">
                <a:solidFill>
                  <a:srgbClr val="000000"/>
                </a:solidFill>
                <a:latin typeface="Calibri"/>
                <a:ea typeface="Calibri"/>
                <a:cs typeface="Calibri"/>
              </a:rPr>
              <a:t>Eng</a:t>
            </a:r>
            <a:r>
              <a:rPr lang="tr-TR" sz="2600" b="0" dirty="0">
                <a:solidFill>
                  <a:srgbClr val="000000"/>
                </a:solidFill>
                <a:latin typeface="Calibri"/>
                <a:ea typeface="Calibri"/>
                <a:cs typeface="Calibri"/>
              </a:rPr>
              <a:t> 273</a:t>
            </a:r>
          </a:p>
          <a:p>
            <a:pPr marL="228600" indent="-165100" algn="l">
              <a:spcAft>
                <a:spcPts val="1800"/>
              </a:spcAft>
              <a:buChar char="•"/>
              <a:defRPr sz="2600" b="0">
                <a:solidFill>
                  <a:srgbClr val="000000"/>
                </a:solidFill>
                <a:latin typeface="Calibri"/>
                <a:ea typeface="Calibri"/>
                <a:cs typeface="Calibri"/>
              </a:defRPr>
            </a:pPr>
            <a:r>
              <a:rPr sz="2600" b="0" dirty="0">
                <a:solidFill>
                  <a:srgbClr val="000000"/>
                </a:solidFill>
                <a:latin typeface="Calibri"/>
                <a:ea typeface="Calibri"/>
                <a:cs typeface="Calibri"/>
              </a:rPr>
              <a:t>Office hours by appointment, online or in person</a:t>
            </a:r>
          </a:p>
          <a:p>
            <a:pPr marL="228600" indent="-165100" algn="l">
              <a:spcAft>
                <a:spcPts val="1800"/>
              </a:spcAft>
              <a:buChar char="•"/>
              <a:defRPr sz="2600" b="0">
                <a:solidFill>
                  <a:srgbClr val="000000"/>
                </a:solidFill>
                <a:latin typeface="Calibri"/>
                <a:ea typeface="Calibri"/>
                <a:cs typeface="Calibri"/>
              </a:defRPr>
            </a:pPr>
            <a:r>
              <a:rPr sz="2600" b="0" dirty="0">
                <a:solidFill>
                  <a:srgbClr val="000000"/>
                </a:solidFill>
                <a:latin typeface="Calibri"/>
                <a:ea typeface="Calibri"/>
                <a:cs typeface="Calibri"/>
              </a:rPr>
              <a:t>You can also stop by when my door is open, especially after lectures</a:t>
            </a:r>
          </a:p>
          <a:p>
            <a:pPr marL="228600" indent="-165100" algn="l">
              <a:spcAft>
                <a:spcPts val="1800"/>
              </a:spcAft>
              <a:buChar char="•"/>
              <a:defRPr sz="2600" b="0">
                <a:solidFill>
                  <a:srgbClr val="000000"/>
                </a:solidFill>
                <a:latin typeface="Calibri"/>
                <a:ea typeface="Calibri"/>
                <a:cs typeface="Calibri"/>
              </a:defRPr>
            </a:pPr>
            <a:r>
              <a:rPr sz="2600" b="0" dirty="0">
                <a:solidFill>
                  <a:srgbClr val="000000"/>
                </a:solidFill>
                <a:latin typeface="Calibri"/>
                <a:ea typeface="Calibri"/>
                <a:cs typeface="Calibri"/>
              </a:rPr>
              <a:t>Teaching assistants: TBA</a:t>
            </a:r>
          </a:p>
        </p:txBody>
      </p:sp>
    </p:spTree>
    <p:extLst>
      <p:ext uri="{BB962C8B-B14F-4D97-AF65-F5344CB8AC3E}">
        <p14:creationId xmlns:p14="http://schemas.microsoft.com/office/powerpoint/2010/main" val="40917621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E6DCDE-C909-BA4B-A1A0-81FD0EE9D44A}"/>
              </a:ext>
            </a:extLst>
          </p:cNvPr>
          <p:cNvSpPr>
            <a:spLocks noGrp="1"/>
          </p:cNvSpPr>
          <p:nvPr>
            <p:ph type="title"/>
          </p:nvPr>
        </p:nvSpPr>
        <p:spPr>
          <a:xfrm>
            <a:off x="393097" y="31337"/>
            <a:ext cx="11353800" cy="1325594"/>
          </a:xfrm>
        </p:spPr>
        <p:txBody>
          <a:bodyPr wrap="square" lIns="91440" tIns="45720" rIns="91440" bIns="45720" anchor="ctr">
            <a:noAutofit/>
          </a:bodyPr>
          <a:lstStyle/>
          <a:p>
            <a:pPr marL="0" indent="0" algn="l">
              <a:buNone/>
              <a:defRPr sz="4400" b="0">
                <a:solidFill>
                  <a:srgbClr val="C00000"/>
                </a:solidFill>
                <a:latin typeface="Calibri Light"/>
                <a:ea typeface="Calibri Light"/>
                <a:cs typeface="Calibri Light"/>
              </a:defRPr>
            </a:pPr>
            <a:r>
              <a:rPr sz="4400" b="0">
                <a:solidFill>
                  <a:srgbClr val="C00000"/>
                </a:solidFill>
                <a:latin typeface="Calibri Light"/>
                <a:ea typeface="Calibri Light"/>
                <a:cs typeface="Calibri Light"/>
              </a:rPr>
              <a:t>Your background and interests</a:t>
            </a:r>
          </a:p>
        </p:txBody>
      </p:sp>
      <p:sp>
        <p:nvSpPr>
          <p:cNvPr id="3" name="Content Placeholder 2">
            <a:extLst>
              <a:ext uri="{FF2B5EF4-FFF2-40B4-BE49-F238E27FC236}">
                <a16:creationId xmlns:a16="http://schemas.microsoft.com/office/drawing/2014/main" id="{4606F040-DCBB-7046-903E-53463D721875}"/>
              </a:ext>
            </a:extLst>
          </p:cNvPr>
          <p:cNvSpPr>
            <a:spLocks noGrp="1"/>
          </p:cNvSpPr>
          <p:nvPr>
            <p:ph idx="1"/>
          </p:nvPr>
        </p:nvSpPr>
        <p:spPr>
          <a:xfrm>
            <a:off x="393097" y="1476375"/>
            <a:ext cx="11353800" cy="4876800"/>
          </a:xfrm>
        </p:spPr>
        <p:txBody>
          <a:bodyPr wrap="square" lIns="91440" tIns="45720" rIns="91440" bIns="45720" anchor="t">
            <a:noAutofit/>
          </a:bodyPr>
          <a:lstStyle/>
          <a:p>
            <a:pPr marL="228600" indent="-165100" algn="l">
              <a:spcAft>
                <a:spcPts val="1600"/>
              </a:spcAft>
              <a:buChar char="•"/>
              <a:defRPr sz="2800" b="0">
                <a:solidFill>
                  <a:srgbClr val="000000"/>
                </a:solidFill>
                <a:latin typeface="Calibri"/>
                <a:ea typeface="Calibri"/>
                <a:cs typeface="Calibri"/>
              </a:defRPr>
            </a:pPr>
            <a:r>
              <a:rPr sz="2800" b="0">
                <a:solidFill>
                  <a:srgbClr val="000000"/>
                </a:solidFill>
                <a:latin typeface="Calibri"/>
                <a:ea typeface="Calibri"/>
                <a:cs typeface="Calibri"/>
              </a:rPr>
              <a:t>What brings you to reinforcement learning?</a:t>
            </a:r>
          </a:p>
          <a:p>
            <a:pPr marL="228600" indent="-165100" algn="l">
              <a:spcAft>
                <a:spcPts val="1600"/>
              </a:spcAft>
              <a:buChar char="•"/>
              <a:defRPr sz="2800" b="0">
                <a:solidFill>
                  <a:srgbClr val="000000"/>
                </a:solidFill>
                <a:latin typeface="Calibri"/>
                <a:ea typeface="Calibri"/>
                <a:cs typeface="Calibri"/>
              </a:defRPr>
            </a:pPr>
            <a:r>
              <a:rPr sz="2800" b="0">
                <a:solidFill>
                  <a:srgbClr val="000000"/>
                </a:solidFill>
                <a:latin typeface="Calibri"/>
                <a:ea typeface="Calibri"/>
                <a:cs typeface="Calibri"/>
              </a:rPr>
              <a:t>How comfortable are you with Python, probability and linear algebra?</a:t>
            </a:r>
          </a:p>
          <a:p>
            <a:pPr marL="228600" indent="-165100" algn="l">
              <a:spcAft>
                <a:spcPts val="1600"/>
              </a:spcAft>
              <a:buChar char="•"/>
              <a:defRPr sz="2800" b="0">
                <a:solidFill>
                  <a:srgbClr val="000000"/>
                </a:solidFill>
                <a:latin typeface="Calibri"/>
                <a:ea typeface="Calibri"/>
                <a:cs typeface="Calibri"/>
              </a:defRPr>
            </a:pPr>
            <a:r>
              <a:rPr sz="2800" b="0">
                <a:solidFill>
                  <a:srgbClr val="000000"/>
                </a:solidFill>
                <a:latin typeface="Calibri"/>
                <a:ea typeface="Calibri"/>
                <a:cs typeface="Calibri"/>
              </a:rPr>
              <a:t>What have you studied in AI, machine learning or deep learning?</a:t>
            </a:r>
          </a:p>
          <a:p>
            <a:pPr marL="228600" indent="-165100" algn="l">
              <a:spcAft>
                <a:spcPts val="1600"/>
              </a:spcAft>
              <a:buChar char="•"/>
              <a:defRPr sz="2800" b="0">
                <a:solidFill>
                  <a:srgbClr val="000000"/>
                </a:solidFill>
                <a:latin typeface="Calibri"/>
                <a:ea typeface="Calibri"/>
                <a:cs typeface="Calibri"/>
              </a:defRPr>
            </a:pPr>
            <a:r>
              <a:rPr sz="2800" b="0">
                <a:solidFill>
                  <a:srgbClr val="000000"/>
                </a:solidFill>
                <a:latin typeface="Calibri"/>
                <a:ea typeface="Calibri"/>
                <a:cs typeface="Calibri"/>
              </a:rPr>
              <a:t>You are welcome to discuss concerns privately</a:t>
            </a:r>
          </a:p>
        </p:txBody>
      </p:sp>
    </p:spTree>
    <p:extLst>
      <p:ext uri="{BB962C8B-B14F-4D97-AF65-F5344CB8AC3E}">
        <p14:creationId xmlns:p14="http://schemas.microsoft.com/office/powerpoint/2010/main" val="28422305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C42AA-763A-4F43-910B-02B413B862A0}"/>
              </a:ext>
            </a:extLst>
          </p:cNvPr>
          <p:cNvSpPr>
            <a:spLocks noGrp="1"/>
          </p:cNvSpPr>
          <p:nvPr>
            <p:ph type="title"/>
          </p:nvPr>
        </p:nvSpPr>
        <p:spPr>
          <a:xfrm>
            <a:off x="393097" y="31337"/>
            <a:ext cx="11353800" cy="1325594"/>
          </a:xfrm>
        </p:spPr>
        <p:txBody>
          <a:bodyPr wrap="square" lIns="91440" tIns="45720" rIns="91440" bIns="45720" anchor="ctr">
            <a:noAutofit/>
          </a:bodyPr>
          <a:lstStyle/>
          <a:p>
            <a:pPr marL="0" indent="0" algn="l">
              <a:buNone/>
              <a:defRPr sz="4400" b="0">
                <a:solidFill>
                  <a:srgbClr val="C00000"/>
                </a:solidFill>
                <a:latin typeface="Calibri Light"/>
                <a:ea typeface="Calibri Light"/>
                <a:cs typeface="Calibri Light"/>
              </a:defRPr>
            </a:pPr>
            <a:r>
              <a:rPr sz="4400" b="0">
                <a:solidFill>
                  <a:srgbClr val="C00000"/>
                </a:solidFill>
                <a:latin typeface="Calibri Light"/>
                <a:ea typeface="Calibri Light"/>
                <a:cs typeface="Calibri Light"/>
              </a:rPr>
              <a:t>Class and syllabus</a:t>
            </a:r>
          </a:p>
        </p:txBody>
      </p:sp>
      <p:sp>
        <p:nvSpPr>
          <p:cNvPr id="3" name="Content Placeholder 2">
            <a:extLst>
              <a:ext uri="{FF2B5EF4-FFF2-40B4-BE49-F238E27FC236}">
                <a16:creationId xmlns:a16="http://schemas.microsoft.com/office/drawing/2014/main" id="{C7EED2F4-B75C-493F-9BE7-1AFCF01CC4DD}"/>
              </a:ext>
            </a:extLst>
          </p:cNvPr>
          <p:cNvSpPr>
            <a:spLocks noGrp="1"/>
          </p:cNvSpPr>
          <p:nvPr>
            <p:ph idx="1"/>
          </p:nvPr>
        </p:nvSpPr>
        <p:spPr>
          <a:xfrm>
            <a:off x="319277" y="1491874"/>
            <a:ext cx="6899801" cy="4876800"/>
          </a:xfrm>
        </p:spPr>
        <p:txBody>
          <a:bodyPr wrap="square" lIns="91440" tIns="45720" rIns="91440" bIns="45720" anchor="t">
            <a:noAutofit/>
          </a:bodyPr>
          <a:lstStyle/>
          <a:p>
            <a:pPr marL="0" indent="0" algn="l">
              <a:spcAft>
                <a:spcPts val="2000"/>
              </a:spcAft>
              <a:buNone/>
              <a:defRPr sz="2800" b="0">
                <a:solidFill>
                  <a:srgbClr val="000000"/>
                </a:solidFill>
                <a:latin typeface="Calibri"/>
                <a:ea typeface="Calibri"/>
                <a:cs typeface="Calibri"/>
              </a:defRPr>
            </a:pPr>
            <a:r>
              <a:rPr sz="2400" b="0" dirty="0">
                <a:solidFill>
                  <a:srgbClr val="000000"/>
                </a:solidFill>
                <a:latin typeface="Calibri"/>
                <a:ea typeface="Calibri"/>
                <a:cs typeface="Calibri"/>
              </a:rPr>
              <a:t>Tuesdays and Thursdays, 14:30–15:40</a:t>
            </a:r>
          </a:p>
          <a:p>
            <a:pPr marL="0" indent="0" algn="l">
              <a:spcAft>
                <a:spcPts val="2000"/>
              </a:spcAft>
              <a:buNone/>
              <a:defRPr sz="2800" b="0">
                <a:solidFill>
                  <a:srgbClr val="000000"/>
                </a:solidFill>
                <a:latin typeface="Calibri"/>
                <a:ea typeface="Calibri"/>
                <a:cs typeface="Calibri"/>
              </a:defRPr>
            </a:pPr>
            <a:r>
              <a:rPr sz="2400" b="0" dirty="0">
                <a:solidFill>
                  <a:srgbClr val="000000"/>
                </a:solidFill>
                <a:latin typeface="Calibri"/>
                <a:ea typeface="Calibri"/>
                <a:cs typeface="Calibri"/>
              </a:rPr>
              <a:t>CASEZ27</a:t>
            </a:r>
          </a:p>
          <a:p>
            <a:pPr marL="228600" indent="-165100" algn="l">
              <a:spcAft>
                <a:spcPts val="2000"/>
              </a:spcAft>
              <a:buChar char="•"/>
              <a:defRPr sz="2800" b="0">
                <a:solidFill>
                  <a:srgbClr val="000000"/>
                </a:solidFill>
                <a:latin typeface="Calibri"/>
                <a:ea typeface="Calibri"/>
                <a:cs typeface="Calibri"/>
              </a:defRPr>
            </a:pPr>
            <a:r>
              <a:rPr sz="2400" b="0" dirty="0">
                <a:solidFill>
                  <a:srgbClr val="000000"/>
                </a:solidFill>
                <a:latin typeface="Calibri"/>
                <a:ea typeface="Calibri"/>
                <a:cs typeface="Calibri"/>
              </a:rPr>
              <a:t>The </a:t>
            </a:r>
            <a:r>
              <a:rPr sz="2400" b="0" dirty="0">
                <a:solidFill>
                  <a:srgbClr val="000000"/>
                </a:solidFill>
                <a:latin typeface="Calibri"/>
                <a:ea typeface="Calibri"/>
                <a:cs typeface="Calibri"/>
                <a:hlinkClick r:id="rId3"/>
              </a:rPr>
              <a:t>syllabus</a:t>
            </a:r>
            <a:r>
              <a:rPr sz="2400" b="0" dirty="0">
                <a:solidFill>
                  <a:srgbClr val="000000"/>
                </a:solidFill>
                <a:latin typeface="Calibri"/>
                <a:ea typeface="Calibri"/>
                <a:cs typeface="Calibri"/>
              </a:rPr>
              <a:t> contains the full course policies</a:t>
            </a:r>
          </a:p>
          <a:p>
            <a:pPr marL="228600" indent="-165100" algn="l">
              <a:spcAft>
                <a:spcPts val="2000"/>
              </a:spcAft>
              <a:buChar char="•"/>
              <a:defRPr sz="2800" b="0">
                <a:solidFill>
                  <a:srgbClr val="000000"/>
                </a:solidFill>
                <a:latin typeface="Calibri"/>
                <a:ea typeface="Calibri"/>
                <a:cs typeface="Calibri"/>
              </a:defRPr>
            </a:pPr>
            <a:r>
              <a:rPr sz="2400" b="0" dirty="0">
                <a:solidFill>
                  <a:srgbClr val="000000"/>
                </a:solidFill>
                <a:latin typeface="Calibri"/>
                <a:ea typeface="Calibri"/>
                <a:cs typeface="Calibri"/>
              </a:rPr>
              <a:t>These slides highlight the main points</a:t>
            </a:r>
          </a:p>
        </p:txBody>
      </p:sp>
      <p:pic>
        <p:nvPicPr>
          <p:cNvPr id="5" name="Picture 4">
            <a:extLst>
              <a:ext uri="{FF2B5EF4-FFF2-40B4-BE49-F238E27FC236}">
                <a16:creationId xmlns:a16="http://schemas.microsoft.com/office/drawing/2014/main" id="{59103025-F6C9-84C5-3787-EB5FFFD205C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45257" y="905628"/>
            <a:ext cx="5046743" cy="5046743"/>
          </a:xfrm>
          <a:prstGeom prst="rect">
            <a:avLst/>
          </a:prstGeom>
        </p:spPr>
      </p:pic>
    </p:spTree>
    <p:extLst>
      <p:ext uri="{BB962C8B-B14F-4D97-AF65-F5344CB8AC3E}">
        <p14:creationId xmlns:p14="http://schemas.microsoft.com/office/powerpoint/2010/main" val="37561848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AF15C6-06D1-4731-BBE1-526229B48EC3}"/>
              </a:ext>
            </a:extLst>
          </p:cNvPr>
          <p:cNvSpPr>
            <a:spLocks noGrp="1"/>
          </p:cNvSpPr>
          <p:nvPr>
            <p:ph type="ctrTitle"/>
          </p:nvPr>
        </p:nvSpPr>
        <p:spPr>
          <a:xfrm>
            <a:off x="393097" y="31337"/>
            <a:ext cx="11353800" cy="1325594"/>
          </a:xfrm>
        </p:spPr>
        <p:txBody>
          <a:bodyPr wrap="square" lIns="91440" tIns="45720" rIns="91440" bIns="45720" anchor="ctr">
            <a:noAutofit/>
          </a:bodyPr>
          <a:lstStyle/>
          <a:p>
            <a:pPr marL="0" indent="0" algn="l">
              <a:buNone/>
              <a:defRPr sz="4400" b="0">
                <a:solidFill>
                  <a:srgbClr val="C00000"/>
                </a:solidFill>
                <a:latin typeface="Calibri Light"/>
                <a:ea typeface="Calibri Light"/>
                <a:cs typeface="Calibri Light"/>
              </a:defRPr>
            </a:pPr>
            <a:r>
              <a:rPr sz="4400" b="0">
                <a:solidFill>
                  <a:srgbClr val="C00000"/>
                </a:solidFill>
                <a:latin typeface="Calibri Light"/>
                <a:ea typeface="Calibri Light"/>
                <a:cs typeface="Calibri Light"/>
              </a:rPr>
              <a:t>Course overview</a:t>
            </a:r>
          </a:p>
        </p:txBody>
      </p:sp>
      <p:sp>
        <p:nvSpPr>
          <p:cNvPr id="3" name="Subtitle 2">
            <a:extLst>
              <a:ext uri="{FF2B5EF4-FFF2-40B4-BE49-F238E27FC236}">
                <a16:creationId xmlns:a16="http://schemas.microsoft.com/office/drawing/2014/main" id="{67255341-A7D5-4301-8D4B-118F2D9333D2}"/>
              </a:ext>
            </a:extLst>
          </p:cNvPr>
          <p:cNvSpPr>
            <a:spLocks noGrp="1"/>
          </p:cNvSpPr>
          <p:nvPr>
            <p:ph type="subTitle" idx="1"/>
          </p:nvPr>
        </p:nvSpPr>
        <p:spPr>
          <a:xfrm>
            <a:off x="393097" y="1524000"/>
            <a:ext cx="7096125" cy="4857750"/>
          </a:xfrm>
        </p:spPr>
        <p:txBody>
          <a:bodyPr wrap="square" lIns="91440" tIns="45720" rIns="91440" bIns="45720" anchor="t">
            <a:noAutofit/>
          </a:bodyPr>
          <a:lstStyle/>
          <a:p>
            <a:pPr marL="228600" indent="-165100" algn="l">
              <a:spcAft>
                <a:spcPts val="1600"/>
              </a:spcAft>
              <a:buChar char="•"/>
              <a:defRPr sz="2800" b="0">
                <a:solidFill>
                  <a:srgbClr val="000000"/>
                </a:solidFill>
                <a:latin typeface="Calibri"/>
                <a:ea typeface="Calibri"/>
                <a:cs typeface="Calibri"/>
              </a:defRPr>
            </a:pPr>
            <a:r>
              <a:rPr sz="2800" b="0">
                <a:solidFill>
                  <a:srgbClr val="000000"/>
                </a:solidFill>
                <a:latin typeface="Calibri"/>
                <a:ea typeface="Calibri"/>
                <a:cs typeface="Calibri"/>
              </a:rPr>
              <a:t>Formulating sequential decisions and understanding returns and values</a:t>
            </a:r>
          </a:p>
          <a:p>
            <a:pPr marL="228600" indent="-165100" algn="l">
              <a:spcAft>
                <a:spcPts val="1600"/>
              </a:spcAft>
              <a:buChar char="•"/>
              <a:defRPr sz="2800" b="0">
                <a:solidFill>
                  <a:srgbClr val="000000"/>
                </a:solidFill>
                <a:latin typeface="Calibri"/>
                <a:ea typeface="Calibri"/>
                <a:cs typeface="Calibri"/>
              </a:defRPr>
            </a:pPr>
            <a:r>
              <a:rPr sz="2800" b="0">
                <a:solidFill>
                  <a:srgbClr val="000000"/>
                </a:solidFill>
                <a:latin typeface="Calibri"/>
                <a:ea typeface="Calibri"/>
                <a:cs typeface="Calibri"/>
              </a:rPr>
              <a:t>Learning with tabular methods and function approximation</a:t>
            </a:r>
          </a:p>
          <a:p>
            <a:pPr marL="228600" indent="-165100" algn="l">
              <a:spcAft>
                <a:spcPts val="1600"/>
              </a:spcAft>
              <a:buChar char="•"/>
              <a:defRPr sz="2800" b="0">
                <a:solidFill>
                  <a:srgbClr val="000000"/>
                </a:solidFill>
                <a:latin typeface="Calibri"/>
                <a:ea typeface="Calibri"/>
                <a:cs typeface="Calibri"/>
              </a:defRPr>
            </a:pPr>
            <a:r>
              <a:rPr sz="2800" b="0">
                <a:solidFill>
                  <a:srgbClr val="000000"/>
                </a:solidFill>
                <a:latin typeface="Calibri"/>
                <a:ea typeface="Calibri"/>
                <a:cs typeface="Calibri"/>
              </a:rPr>
              <a:t>Deep value learning and policy optimization</a:t>
            </a:r>
          </a:p>
          <a:p>
            <a:pPr marL="228600" indent="-165100" algn="l">
              <a:spcAft>
                <a:spcPts val="1600"/>
              </a:spcAft>
              <a:buChar char="•"/>
              <a:defRPr sz="2800" b="0">
                <a:solidFill>
                  <a:srgbClr val="000000"/>
                </a:solidFill>
                <a:latin typeface="Calibri"/>
                <a:ea typeface="Calibri"/>
                <a:cs typeface="Calibri"/>
              </a:defRPr>
            </a:pPr>
            <a:r>
              <a:rPr sz="2800" b="0">
                <a:solidFill>
                  <a:srgbClr val="000000"/>
                </a:solidFill>
                <a:latin typeface="Calibri"/>
                <a:ea typeface="Calibri"/>
                <a:cs typeface="Calibri"/>
              </a:rPr>
              <a:t>Exploration, planning and learned models</a:t>
            </a:r>
          </a:p>
          <a:p>
            <a:pPr marL="228600" indent="-165100" algn="l">
              <a:spcAft>
                <a:spcPts val="1600"/>
              </a:spcAft>
              <a:buChar char="•"/>
              <a:defRPr sz="2800" b="0">
                <a:solidFill>
                  <a:srgbClr val="000000"/>
                </a:solidFill>
                <a:latin typeface="Calibri"/>
                <a:ea typeface="Calibri"/>
                <a:cs typeface="Calibri"/>
              </a:defRPr>
            </a:pPr>
            <a:r>
              <a:rPr sz="2800" b="0">
                <a:solidFill>
                  <a:srgbClr val="000000"/>
                </a:solidFill>
                <a:latin typeface="Calibri"/>
                <a:ea typeface="Calibri"/>
                <a:cs typeface="Calibri"/>
              </a:rPr>
              <a:t>Offline RL and RL for LLM post-training</a:t>
            </a:r>
          </a:p>
        </p:txBody>
      </p:sp>
      <p:pic>
        <p:nvPicPr>
          <p:cNvPr id="7" name="Picture 4"/>
          <p:cNvPicPr>
            <a:picLocks noChangeAspect="1"/>
          </p:cNvPicPr>
          <p:nvPr/>
        </p:nvPicPr>
        <p:blipFill>
          <a:blip r:embed="rId3"/>
          <a:stretch>
            <a:fillRect/>
          </a:stretch>
        </p:blipFill>
        <p:spPr>
          <a:xfrm>
            <a:off x="7810500" y="2286000"/>
            <a:ext cx="3762375" cy="2532317"/>
          </a:xfrm>
          <a:prstGeom prst="rect">
            <a:avLst/>
          </a:prstGeom>
        </p:spPr>
      </p:pic>
    </p:spTree>
    <p:extLst>
      <p:ext uri="{BB962C8B-B14F-4D97-AF65-F5344CB8AC3E}">
        <p14:creationId xmlns:p14="http://schemas.microsoft.com/office/powerpoint/2010/main" val="42097871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9C466-F287-51C6-8D05-1A9F3202F7B2}"/>
              </a:ext>
            </a:extLst>
          </p:cNvPr>
          <p:cNvSpPr>
            <a:spLocks noGrp="1"/>
          </p:cNvSpPr>
          <p:nvPr>
            <p:ph type="title"/>
          </p:nvPr>
        </p:nvSpPr>
        <p:spPr>
          <a:xfrm>
            <a:off x="393097" y="31337"/>
            <a:ext cx="11353800" cy="1325594"/>
          </a:xfrm>
        </p:spPr>
        <p:txBody>
          <a:bodyPr wrap="square" lIns="91440" tIns="45720" rIns="91440" bIns="45720" anchor="ctr">
            <a:noAutofit/>
          </a:bodyPr>
          <a:lstStyle/>
          <a:p>
            <a:pPr marL="0" indent="0" algn="l">
              <a:buNone/>
              <a:defRPr sz="4400" b="0">
                <a:solidFill>
                  <a:srgbClr val="C00000"/>
                </a:solidFill>
                <a:latin typeface="Calibri Light"/>
                <a:ea typeface="Calibri Light"/>
                <a:cs typeface="Calibri Light"/>
              </a:defRPr>
            </a:pPr>
            <a:r>
              <a:rPr sz="4400" b="0">
                <a:solidFill>
                  <a:srgbClr val="C00000"/>
                </a:solidFill>
                <a:latin typeface="Calibri Light"/>
                <a:ea typeface="Calibri Light"/>
                <a:cs typeface="Calibri Light"/>
              </a:rPr>
              <a:t>Preparation</a:t>
            </a:r>
          </a:p>
        </p:txBody>
      </p:sp>
      <p:sp>
        <p:nvSpPr>
          <p:cNvPr id="3" name="Content Placeholder 2">
            <a:extLst>
              <a:ext uri="{FF2B5EF4-FFF2-40B4-BE49-F238E27FC236}">
                <a16:creationId xmlns:a16="http://schemas.microsoft.com/office/drawing/2014/main" id="{0B8D219A-5D6E-186C-7037-6E8087030074}"/>
              </a:ext>
            </a:extLst>
          </p:cNvPr>
          <p:cNvSpPr>
            <a:spLocks noGrp="1"/>
          </p:cNvSpPr>
          <p:nvPr>
            <p:ph idx="1"/>
          </p:nvPr>
        </p:nvSpPr>
        <p:spPr>
          <a:xfrm>
            <a:off x="393097" y="1476375"/>
            <a:ext cx="11353800" cy="4876800"/>
          </a:xfrm>
        </p:spPr>
        <p:txBody>
          <a:bodyPr wrap="square" lIns="91440" tIns="45720" rIns="91440" bIns="45720" anchor="t">
            <a:noAutofit/>
          </a:bodyPr>
          <a:lstStyle/>
          <a:p>
            <a:pPr marL="228600" indent="-165100" algn="l">
              <a:spcAft>
                <a:spcPts val="1600"/>
              </a:spcAft>
              <a:buChar char="•"/>
              <a:defRPr sz="2600" b="0">
                <a:solidFill>
                  <a:srgbClr val="000000"/>
                </a:solidFill>
                <a:latin typeface="Calibri"/>
                <a:ea typeface="Calibri"/>
                <a:cs typeface="Calibri"/>
              </a:defRPr>
            </a:pPr>
            <a:r>
              <a:rPr sz="2600" b="0">
                <a:solidFill>
                  <a:srgbClr val="000000"/>
                </a:solidFill>
                <a:latin typeface="Calibri"/>
                <a:ea typeface="Calibri"/>
                <a:cs typeface="Calibri"/>
              </a:rPr>
              <a:t>AI background: agents, decisions, utility, states, actions and rewards</a:t>
            </a:r>
          </a:p>
          <a:p>
            <a:pPr marL="228600" indent="-165100" algn="l">
              <a:spcAft>
                <a:spcPts val="1600"/>
              </a:spcAft>
              <a:buChar char="•"/>
              <a:defRPr sz="2600" b="0">
                <a:solidFill>
                  <a:srgbClr val="000000"/>
                </a:solidFill>
                <a:latin typeface="Calibri"/>
                <a:ea typeface="Calibri"/>
                <a:cs typeface="Calibri"/>
              </a:defRPr>
            </a:pPr>
            <a:r>
              <a:rPr sz="2600" b="0">
                <a:solidFill>
                  <a:srgbClr val="000000"/>
                </a:solidFill>
                <a:latin typeface="Calibri"/>
                <a:ea typeface="Calibri"/>
                <a:cs typeface="Calibri"/>
              </a:rPr>
              <a:t>ML background: regression, stochastic gradient descent and neural networks</a:t>
            </a:r>
          </a:p>
          <a:p>
            <a:pPr marL="228600" indent="-165100" algn="l">
              <a:spcAft>
                <a:spcPts val="1600"/>
              </a:spcAft>
              <a:buChar char="•"/>
              <a:defRPr sz="2600" b="0">
                <a:solidFill>
                  <a:srgbClr val="000000"/>
                </a:solidFill>
                <a:latin typeface="Calibri"/>
                <a:ea typeface="Calibri"/>
                <a:cs typeface="Calibri"/>
              </a:defRPr>
            </a:pPr>
            <a:r>
              <a:rPr sz="2600" b="0">
                <a:solidFill>
                  <a:srgbClr val="000000"/>
                </a:solidFill>
                <a:latin typeface="Calibri"/>
                <a:ea typeface="Calibri"/>
                <a:cs typeface="Calibri"/>
              </a:rPr>
              <a:t>Working knowledge of probability, statistics and linear algebra</a:t>
            </a:r>
          </a:p>
          <a:p>
            <a:pPr marL="228600" indent="-165100" algn="l">
              <a:spcAft>
                <a:spcPts val="1600"/>
              </a:spcAft>
              <a:buChar char="•"/>
              <a:defRPr sz="2600" b="0">
                <a:solidFill>
                  <a:srgbClr val="000000"/>
                </a:solidFill>
                <a:latin typeface="Calibri"/>
                <a:ea typeface="Calibri"/>
                <a:cs typeface="Calibri"/>
              </a:defRPr>
            </a:pPr>
            <a:r>
              <a:rPr sz="2600" b="0">
                <a:solidFill>
                  <a:srgbClr val="000000"/>
                </a:solidFill>
                <a:latin typeface="Calibri"/>
                <a:ea typeface="Calibri"/>
                <a:cs typeface="Calibri"/>
              </a:rPr>
              <a:t>Python programming, including translating equations into code</a:t>
            </a:r>
          </a:p>
          <a:p>
            <a:pPr marL="228600" indent="-165100" algn="l">
              <a:spcAft>
                <a:spcPts val="1600"/>
              </a:spcAft>
              <a:buChar char="•"/>
              <a:defRPr sz="2600" b="0">
                <a:solidFill>
                  <a:srgbClr val="000000"/>
                </a:solidFill>
                <a:latin typeface="Calibri"/>
                <a:ea typeface="Calibri"/>
                <a:cs typeface="Calibri"/>
              </a:defRPr>
            </a:pPr>
            <a:r>
              <a:rPr sz="2600" b="0">
                <a:solidFill>
                  <a:srgbClr val="000000"/>
                </a:solidFill>
                <a:latin typeface="Calibri"/>
                <a:ea typeface="Calibri"/>
                <a:cs typeface="Calibri"/>
              </a:rPr>
              <a:t>Prior deep learning coursework is helpful but not required</a:t>
            </a:r>
          </a:p>
        </p:txBody>
      </p:sp>
    </p:spTree>
    <p:extLst>
      <p:ext uri="{BB962C8B-B14F-4D97-AF65-F5344CB8AC3E}">
        <p14:creationId xmlns:p14="http://schemas.microsoft.com/office/powerpoint/2010/main" val="35569877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3156E8-FEA4-6643-9281-A7BB2036C80B}"/>
              </a:ext>
            </a:extLst>
          </p:cNvPr>
          <p:cNvSpPr>
            <a:spLocks noGrp="1"/>
          </p:cNvSpPr>
          <p:nvPr>
            <p:ph type="title"/>
          </p:nvPr>
        </p:nvSpPr>
        <p:spPr>
          <a:xfrm>
            <a:off x="393097" y="31337"/>
            <a:ext cx="11353800" cy="1325594"/>
          </a:xfrm>
        </p:spPr>
        <p:txBody>
          <a:bodyPr wrap="square" lIns="91440" tIns="45720" rIns="91440" bIns="45720" anchor="ctr">
            <a:noAutofit/>
          </a:bodyPr>
          <a:lstStyle/>
          <a:p>
            <a:pPr marL="0" indent="0" algn="l">
              <a:buNone/>
              <a:defRPr sz="4400" b="0">
                <a:solidFill>
                  <a:srgbClr val="C00000"/>
                </a:solidFill>
                <a:latin typeface="Calibri Light"/>
                <a:ea typeface="Calibri Light"/>
                <a:cs typeface="Calibri Light"/>
              </a:defRPr>
            </a:pPr>
            <a:r>
              <a:rPr sz="4400" b="0">
                <a:solidFill>
                  <a:srgbClr val="C00000"/>
                </a:solidFill>
                <a:latin typeface="Calibri Light"/>
                <a:ea typeface="Calibri Light"/>
                <a:cs typeface="Calibri Light"/>
              </a:rPr>
              <a:t>Course communication</a:t>
            </a:r>
          </a:p>
        </p:txBody>
      </p:sp>
      <p:sp>
        <p:nvSpPr>
          <p:cNvPr id="3" name="Content Placeholder 2">
            <a:extLst>
              <a:ext uri="{FF2B5EF4-FFF2-40B4-BE49-F238E27FC236}">
                <a16:creationId xmlns:a16="http://schemas.microsoft.com/office/drawing/2014/main" id="{879D08C6-0945-0640-A9A0-1DD8067A66E7}"/>
              </a:ext>
            </a:extLst>
          </p:cNvPr>
          <p:cNvSpPr>
            <a:spLocks noGrp="1"/>
          </p:cNvSpPr>
          <p:nvPr>
            <p:ph idx="1"/>
          </p:nvPr>
        </p:nvSpPr>
        <p:spPr>
          <a:xfrm>
            <a:off x="393097" y="1476375"/>
            <a:ext cx="11353800" cy="4876800"/>
          </a:xfrm>
        </p:spPr>
        <p:txBody>
          <a:bodyPr wrap="square" lIns="91440" tIns="45720" rIns="91440" bIns="45720" anchor="t">
            <a:noAutofit/>
          </a:bodyPr>
          <a:lstStyle/>
          <a:p>
            <a:pPr marL="228600" indent="-165100" algn="l">
              <a:spcAft>
                <a:spcPts val="1600"/>
              </a:spcAft>
              <a:buChar char="•"/>
              <a:defRPr sz="2800" b="0">
                <a:solidFill>
                  <a:srgbClr val="000000"/>
                </a:solidFill>
                <a:latin typeface="Calibri"/>
                <a:ea typeface="Calibri"/>
                <a:cs typeface="Calibri"/>
              </a:defRPr>
            </a:pPr>
            <a:r>
              <a:rPr sz="2800" b="0">
                <a:solidFill>
                  <a:srgbClr val="000000"/>
                </a:solidFill>
                <a:latin typeface="Calibri"/>
                <a:ea typeface="Calibri"/>
                <a:cs typeface="Calibri"/>
              </a:rPr>
              <a:t>Course materials and announcements on KU Hub</a:t>
            </a:r>
          </a:p>
          <a:p>
            <a:pPr marL="228600" indent="-165100" algn="l">
              <a:spcAft>
                <a:spcPts val="1600"/>
              </a:spcAft>
              <a:buChar char="•"/>
              <a:defRPr sz="2800" b="0">
                <a:solidFill>
                  <a:srgbClr val="000000"/>
                </a:solidFill>
                <a:latin typeface="Calibri"/>
                <a:ea typeface="Calibri"/>
                <a:cs typeface="Calibri"/>
              </a:defRPr>
            </a:pPr>
            <a:r>
              <a:rPr sz="2800" b="0">
                <a:solidFill>
                  <a:srgbClr val="000000"/>
                </a:solidFill>
                <a:latin typeface="Calibri"/>
                <a:ea typeface="Calibri"/>
                <a:cs typeface="Calibri"/>
              </a:rPr>
              <a:t>Assignment and report submissions through KU Hub</a:t>
            </a:r>
          </a:p>
          <a:p>
            <a:pPr marL="228600" indent="-165100" algn="l">
              <a:spcAft>
                <a:spcPts val="1600"/>
              </a:spcAft>
              <a:buChar char="•"/>
              <a:defRPr sz="2800" b="0">
                <a:solidFill>
                  <a:srgbClr val="000000"/>
                </a:solidFill>
                <a:latin typeface="Calibri"/>
                <a:ea typeface="Calibri"/>
                <a:cs typeface="Calibri"/>
              </a:defRPr>
            </a:pPr>
            <a:r>
              <a:rPr sz="2800" b="0">
                <a:solidFill>
                  <a:srgbClr val="000000"/>
                </a:solidFill>
                <a:latin typeface="Calibri"/>
                <a:ea typeface="Calibri"/>
                <a:cs typeface="Calibri"/>
              </a:rPr>
              <a:t>Check your university email regularly</a:t>
            </a:r>
          </a:p>
          <a:p>
            <a:pPr marL="228600" indent="-165100" algn="l">
              <a:spcAft>
                <a:spcPts val="1600"/>
              </a:spcAft>
              <a:buChar char="•"/>
              <a:defRPr sz="2800" b="0">
                <a:solidFill>
                  <a:srgbClr val="000000"/>
                </a:solidFill>
                <a:latin typeface="Calibri"/>
                <a:ea typeface="Calibri"/>
                <a:cs typeface="Calibri"/>
              </a:defRPr>
            </a:pPr>
            <a:r>
              <a:rPr sz="2800" b="0">
                <a:solidFill>
                  <a:srgbClr val="000000"/>
                </a:solidFill>
                <a:latin typeface="Calibri"/>
                <a:ea typeface="Calibri"/>
                <a:cs typeface="Calibri"/>
              </a:rPr>
              <a:t>Contact the instructor when you need clarification</a:t>
            </a:r>
          </a:p>
        </p:txBody>
      </p:sp>
    </p:spTree>
    <p:extLst>
      <p:ext uri="{BB962C8B-B14F-4D97-AF65-F5344CB8AC3E}">
        <p14:creationId xmlns:p14="http://schemas.microsoft.com/office/powerpoint/2010/main" val="9488553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623091-62FC-4557-B1C6-98C757AE3D72}"/>
              </a:ext>
            </a:extLst>
          </p:cNvPr>
          <p:cNvSpPr>
            <a:spLocks noGrp="1"/>
          </p:cNvSpPr>
          <p:nvPr>
            <p:ph type="title"/>
          </p:nvPr>
        </p:nvSpPr>
        <p:spPr>
          <a:xfrm>
            <a:off x="393097" y="31337"/>
            <a:ext cx="11353800" cy="1325594"/>
          </a:xfrm>
        </p:spPr>
        <p:txBody>
          <a:bodyPr wrap="square" lIns="91440" tIns="45720" rIns="91440" bIns="45720" anchor="ctr">
            <a:noAutofit/>
          </a:bodyPr>
          <a:lstStyle/>
          <a:p>
            <a:pPr marL="0" indent="0" algn="l">
              <a:buNone/>
              <a:defRPr sz="4400" b="0">
                <a:solidFill>
                  <a:srgbClr val="C00000"/>
                </a:solidFill>
                <a:latin typeface="Calibri Light"/>
                <a:ea typeface="Calibri Light"/>
                <a:cs typeface="Calibri Light"/>
              </a:defRPr>
            </a:pPr>
            <a:r>
              <a:rPr sz="4400" b="0">
                <a:solidFill>
                  <a:srgbClr val="C00000"/>
                </a:solidFill>
                <a:latin typeface="Calibri Light"/>
                <a:ea typeface="Calibri Light"/>
                <a:cs typeface="Calibri Light"/>
              </a:rPr>
              <a:t>Textbook and resources</a:t>
            </a:r>
          </a:p>
        </p:txBody>
      </p:sp>
      <p:pic>
        <p:nvPicPr>
          <p:cNvPr id="16" name="Picture 9"/>
          <p:cNvPicPr>
            <a:picLocks noChangeAspect="1"/>
          </p:cNvPicPr>
          <p:nvPr/>
        </p:nvPicPr>
        <p:blipFill>
          <a:blip r:embed="rId3"/>
          <a:stretch>
            <a:fillRect/>
          </a:stretch>
        </p:blipFill>
        <p:spPr>
          <a:xfrm>
            <a:off x="544719" y="1087997"/>
            <a:ext cx="3208496" cy="4421891"/>
          </a:xfrm>
          <a:prstGeom prst="rect">
            <a:avLst/>
          </a:prstGeom>
        </p:spPr>
      </p:pic>
      <p:sp>
        <p:nvSpPr>
          <p:cNvPr id="11" name="TextBox 10">
            <a:extLst>
              <a:ext uri="{FF2B5EF4-FFF2-40B4-BE49-F238E27FC236}">
                <a16:creationId xmlns:a16="http://schemas.microsoft.com/office/drawing/2014/main" id="{5C686F65-F0A4-45FF-AC6C-ACC603CE4319}"/>
              </a:ext>
            </a:extLst>
          </p:cNvPr>
          <p:cNvSpPr>
            <a:spLocks noGrp="1"/>
          </p:cNvSpPr>
          <p:nvPr/>
        </p:nvSpPr>
        <p:spPr>
          <a:xfrm>
            <a:off x="4381500" y="1476375"/>
            <a:ext cx="7143750" cy="4667250"/>
          </a:xfrm>
          <a:prstGeom prst="rect">
            <a:avLst/>
          </a:prstGeom>
          <a:noFill/>
        </p:spPr>
        <p:txBody>
          <a:bodyPr wrap="square" lIns="91440" tIns="45720" rIns="91440" bIns="45720" anchor="t">
            <a:noAutofit/>
          </a:bodyPr>
          <a:lstStyle/>
          <a:p>
            <a:pPr marL="0" indent="0" algn="l">
              <a:spcAft>
                <a:spcPts val="1700"/>
              </a:spcAft>
              <a:buNone/>
              <a:defRPr sz="2600" b="0">
                <a:solidFill>
                  <a:srgbClr val="000000"/>
                </a:solidFill>
                <a:latin typeface="Calibri"/>
                <a:ea typeface="Calibri"/>
                <a:cs typeface="Calibri"/>
              </a:defRPr>
            </a:pPr>
            <a:r>
              <a:rPr sz="2600" b="0">
                <a:solidFill>
                  <a:srgbClr val="000000"/>
                </a:solidFill>
                <a:latin typeface="Calibri"/>
                <a:ea typeface="Calibri"/>
                <a:cs typeface="Calibri"/>
              </a:rPr>
              <a:t>Sutton and Barto</a:t>
            </a:r>
          </a:p>
          <a:p>
            <a:pPr marL="0" indent="0" algn="l">
              <a:spcAft>
                <a:spcPts val="1700"/>
              </a:spcAft>
              <a:buNone/>
              <a:defRPr sz="2600" b="0">
                <a:solidFill>
                  <a:srgbClr val="000000"/>
                </a:solidFill>
                <a:latin typeface="Calibri"/>
                <a:ea typeface="Calibri"/>
                <a:cs typeface="Calibri"/>
              </a:defRPr>
            </a:pPr>
            <a:r>
              <a:rPr sz="2600" b="0" i="1">
                <a:solidFill>
                  <a:srgbClr val="000000"/>
                </a:solidFill>
                <a:latin typeface="Calibri"/>
                <a:ea typeface="Calibri"/>
                <a:cs typeface="Calibri"/>
              </a:rPr>
              <a:t>Reinforcement Learning: An Introduction</a:t>
            </a:r>
            <a:r>
              <a:rPr sz="2600" b="0">
                <a:solidFill>
                  <a:srgbClr val="000000"/>
                </a:solidFill>
                <a:latin typeface="Calibri"/>
                <a:ea typeface="Calibri"/>
                <a:cs typeface="Calibri"/>
              </a:rPr>
              <a:t>, 2nd edition</a:t>
            </a:r>
          </a:p>
          <a:p>
            <a:pPr marL="0" indent="0" algn="l">
              <a:spcAft>
                <a:spcPts val="1700"/>
              </a:spcAft>
              <a:buNone/>
              <a:defRPr sz="2600" b="0">
                <a:solidFill>
                  <a:srgbClr val="000000"/>
                </a:solidFill>
                <a:latin typeface="Calibri"/>
                <a:ea typeface="Calibri"/>
                <a:cs typeface="Calibri"/>
              </a:defRPr>
            </a:pPr>
            <a:r>
              <a:rPr sz="2600" b="0" u="sng">
                <a:solidFill>
                  <a:srgbClr val="000000"/>
                </a:solidFill>
                <a:latin typeface="Calibri"/>
                <a:ea typeface="Calibri"/>
                <a:cs typeface="Calibri"/>
                <a:hlinkClick r:id="rId4"/>
              </a:rPr>
              <a:t>Book website</a:t>
            </a:r>
          </a:p>
          <a:p>
            <a:pPr marL="228600" indent="-165100" algn="l">
              <a:spcAft>
                <a:spcPts val="1700"/>
              </a:spcAft>
              <a:buChar char="•"/>
              <a:defRPr sz="2600" b="0">
                <a:solidFill>
                  <a:srgbClr val="000000"/>
                </a:solidFill>
                <a:latin typeface="Calibri"/>
                <a:ea typeface="Calibri"/>
                <a:cs typeface="Calibri"/>
              </a:defRPr>
            </a:pPr>
            <a:r>
              <a:rPr sz="2600" b="0">
                <a:solidFill>
                  <a:srgbClr val="000000"/>
                </a:solidFill>
                <a:latin typeface="Calibri"/>
                <a:ea typeface="Calibri"/>
                <a:cs typeface="Calibri"/>
              </a:rPr>
              <a:t>A reference for foundational RL concepts</a:t>
            </a:r>
          </a:p>
          <a:p>
            <a:pPr marL="228600" indent="-165100" algn="l">
              <a:spcAft>
                <a:spcPts val="1700"/>
              </a:spcAft>
              <a:buChar char="•"/>
              <a:defRPr sz="2600" b="0">
                <a:solidFill>
                  <a:srgbClr val="000000"/>
                </a:solidFill>
                <a:latin typeface="Calibri"/>
                <a:ea typeface="Calibri"/>
                <a:cs typeface="Calibri"/>
              </a:defRPr>
            </a:pPr>
            <a:r>
              <a:rPr sz="2600" b="0">
                <a:solidFill>
                  <a:srgbClr val="000000"/>
                </a:solidFill>
                <a:latin typeface="Calibri"/>
                <a:ea typeface="Calibri"/>
                <a:cs typeface="Calibri"/>
              </a:rPr>
              <a:t>No assigned readings this semester</a:t>
            </a:r>
          </a:p>
          <a:p>
            <a:pPr marL="228600" indent="-165100" algn="l">
              <a:spcAft>
                <a:spcPts val="1700"/>
              </a:spcAft>
              <a:buChar char="•"/>
              <a:defRPr sz="2600" b="0">
                <a:solidFill>
                  <a:srgbClr val="000000"/>
                </a:solidFill>
                <a:latin typeface="Calibri"/>
                <a:ea typeface="Calibri"/>
                <a:cs typeface="Calibri"/>
              </a:defRPr>
            </a:pPr>
            <a:r>
              <a:rPr sz="2600" b="0">
                <a:solidFill>
                  <a:srgbClr val="000000"/>
                </a:solidFill>
                <a:latin typeface="Calibri"/>
                <a:ea typeface="Calibri"/>
                <a:cs typeface="Calibri"/>
              </a:rPr>
              <a:t>Teaching mainly through lectures, with videos as needed</a:t>
            </a:r>
          </a:p>
        </p:txBody>
      </p:sp>
    </p:spTree>
    <p:extLst>
      <p:ext uri="{BB962C8B-B14F-4D97-AF65-F5344CB8AC3E}">
        <p14:creationId xmlns:p14="http://schemas.microsoft.com/office/powerpoint/2010/main" val="21399529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2A4CCA-2CA0-C541-9BC6-5C7AFF5BBEF6}"/>
              </a:ext>
            </a:extLst>
          </p:cNvPr>
          <p:cNvSpPr>
            <a:spLocks noGrp="1"/>
          </p:cNvSpPr>
          <p:nvPr>
            <p:ph type="title"/>
          </p:nvPr>
        </p:nvSpPr>
        <p:spPr>
          <a:xfrm>
            <a:off x="393097" y="31337"/>
            <a:ext cx="11353800" cy="1325594"/>
          </a:xfrm>
        </p:spPr>
        <p:txBody>
          <a:bodyPr wrap="square" lIns="91440" tIns="45720" rIns="91440" bIns="45720" anchor="ctr">
            <a:noAutofit/>
          </a:bodyPr>
          <a:lstStyle/>
          <a:p>
            <a:pPr marL="0" indent="0" algn="l">
              <a:buNone/>
              <a:defRPr sz="4400" b="0">
                <a:solidFill>
                  <a:srgbClr val="C00000"/>
                </a:solidFill>
                <a:latin typeface="Calibri Light"/>
                <a:ea typeface="Calibri Light"/>
                <a:cs typeface="Calibri Light"/>
              </a:defRPr>
            </a:pPr>
            <a:r>
              <a:rPr sz="4400" b="0">
                <a:solidFill>
                  <a:srgbClr val="C00000"/>
                </a:solidFill>
                <a:latin typeface="Calibri Light"/>
                <a:ea typeface="Calibri Light"/>
                <a:cs typeface="Calibri Light"/>
              </a:rPr>
              <a:t>Lectures and participation</a:t>
            </a:r>
          </a:p>
        </p:txBody>
      </p:sp>
      <p:sp>
        <p:nvSpPr>
          <p:cNvPr id="3" name="Content Placeholder 2">
            <a:extLst>
              <a:ext uri="{FF2B5EF4-FFF2-40B4-BE49-F238E27FC236}">
                <a16:creationId xmlns:a16="http://schemas.microsoft.com/office/drawing/2014/main" id="{BF2AF17E-B5B9-8741-8B08-B8B4A6E1B75F}"/>
              </a:ext>
            </a:extLst>
          </p:cNvPr>
          <p:cNvSpPr>
            <a:spLocks noGrp="1"/>
          </p:cNvSpPr>
          <p:nvPr>
            <p:ph idx="1"/>
          </p:nvPr>
        </p:nvSpPr>
        <p:spPr>
          <a:xfrm>
            <a:off x="393097" y="1476375"/>
            <a:ext cx="11353800" cy="4876800"/>
          </a:xfrm>
        </p:spPr>
        <p:txBody>
          <a:bodyPr wrap="square" lIns="91440" tIns="45720" rIns="91440" bIns="45720" anchor="t">
            <a:noAutofit/>
          </a:bodyPr>
          <a:lstStyle/>
          <a:p>
            <a:pPr marL="228600" indent="-165100" algn="l">
              <a:spcAft>
                <a:spcPts val="1600"/>
              </a:spcAft>
              <a:buChar char="•"/>
              <a:defRPr sz="2800" b="0">
                <a:solidFill>
                  <a:srgbClr val="000000"/>
                </a:solidFill>
                <a:latin typeface="Calibri"/>
                <a:ea typeface="Calibri"/>
                <a:cs typeface="Calibri"/>
              </a:defRPr>
            </a:pPr>
            <a:r>
              <a:rPr sz="2800" b="0">
                <a:solidFill>
                  <a:srgbClr val="000000"/>
                </a:solidFill>
                <a:latin typeface="Calibri"/>
                <a:ea typeface="Calibri"/>
                <a:cs typeface="Calibri"/>
              </a:rPr>
              <a:t>Attendance </a:t>
            </a:r>
            <a:r>
              <a:rPr sz="2800" b="0" dirty="0">
                <a:solidFill>
                  <a:srgbClr val="000000"/>
                </a:solidFill>
                <a:latin typeface="Calibri"/>
                <a:ea typeface="Calibri"/>
                <a:cs typeface="Calibri"/>
              </a:rPr>
              <a:t>is not tracked</a:t>
            </a:r>
          </a:p>
          <a:p>
            <a:pPr marL="228600" indent="-165100" algn="l">
              <a:spcAft>
                <a:spcPts val="1600"/>
              </a:spcAft>
              <a:buChar char="•"/>
              <a:defRPr sz="2800" b="0">
                <a:solidFill>
                  <a:srgbClr val="000000"/>
                </a:solidFill>
                <a:latin typeface="Calibri"/>
                <a:ea typeface="Calibri"/>
                <a:cs typeface="Calibri"/>
              </a:defRPr>
            </a:pPr>
            <a:r>
              <a:rPr sz="2800" b="0" dirty="0">
                <a:solidFill>
                  <a:srgbClr val="000000"/>
                </a:solidFill>
                <a:latin typeface="Calibri"/>
                <a:ea typeface="Calibri"/>
                <a:cs typeface="Calibri"/>
              </a:rPr>
              <a:t>Questions and discussion are encouraged</a:t>
            </a:r>
          </a:p>
          <a:p>
            <a:pPr marL="228600" indent="-165100" algn="l">
              <a:spcAft>
                <a:spcPts val="1600"/>
              </a:spcAft>
              <a:buChar char="•"/>
              <a:defRPr sz="2800" b="0">
                <a:solidFill>
                  <a:srgbClr val="000000"/>
                </a:solidFill>
                <a:latin typeface="Calibri"/>
                <a:ea typeface="Calibri"/>
                <a:cs typeface="Calibri"/>
              </a:defRPr>
            </a:pPr>
            <a:r>
              <a:rPr sz="2800" b="0" dirty="0">
                <a:solidFill>
                  <a:srgbClr val="000000"/>
                </a:solidFill>
                <a:latin typeface="Calibri"/>
                <a:ea typeface="Calibri"/>
                <a:cs typeface="Calibri"/>
              </a:rPr>
              <a:t>Videos will supplement lectures as needed</a:t>
            </a:r>
          </a:p>
        </p:txBody>
      </p:sp>
    </p:spTree>
    <p:extLst>
      <p:ext uri="{BB962C8B-B14F-4D97-AF65-F5344CB8AC3E}">
        <p14:creationId xmlns:p14="http://schemas.microsoft.com/office/powerpoint/2010/main" val="17866439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5495D-FE1A-431B-A5ED-AE912CD94F58}"/>
              </a:ext>
            </a:extLst>
          </p:cNvPr>
          <p:cNvSpPr>
            <a:spLocks noGrp="1"/>
          </p:cNvSpPr>
          <p:nvPr>
            <p:ph type="title"/>
          </p:nvPr>
        </p:nvSpPr>
        <p:spPr>
          <a:xfrm>
            <a:off x="393097" y="31337"/>
            <a:ext cx="11353800" cy="1325594"/>
          </a:xfrm>
        </p:spPr>
        <p:txBody>
          <a:bodyPr wrap="square" lIns="91440" tIns="45720" rIns="91440" bIns="45720" anchor="ctr">
            <a:noAutofit/>
          </a:bodyPr>
          <a:lstStyle/>
          <a:p>
            <a:pPr marL="0" indent="0" algn="l">
              <a:buNone/>
              <a:defRPr sz="4400" b="0">
                <a:solidFill>
                  <a:srgbClr val="C00000"/>
                </a:solidFill>
                <a:latin typeface="Calibri Light"/>
                <a:ea typeface="Calibri Light"/>
                <a:cs typeface="Calibri Light"/>
              </a:defRPr>
            </a:pPr>
            <a:r>
              <a:rPr sz="4400" b="0">
                <a:solidFill>
                  <a:srgbClr val="C00000"/>
                </a:solidFill>
                <a:latin typeface="Calibri Light"/>
                <a:ea typeface="Calibri Light"/>
                <a:cs typeface="Calibri Light"/>
              </a:rPr>
              <a:t>Assessment</a:t>
            </a:r>
          </a:p>
        </p:txBody>
      </p:sp>
      <p:sp>
        <p:nvSpPr>
          <p:cNvPr id="3" name="Content Placeholder 2">
            <a:extLst>
              <a:ext uri="{FF2B5EF4-FFF2-40B4-BE49-F238E27FC236}">
                <a16:creationId xmlns:a16="http://schemas.microsoft.com/office/drawing/2014/main" id="{336D5505-A4F9-4ECB-81EC-D3979B757237}"/>
              </a:ext>
            </a:extLst>
          </p:cNvPr>
          <p:cNvSpPr>
            <a:spLocks noGrp="1"/>
          </p:cNvSpPr>
          <p:nvPr>
            <p:ph idx="1"/>
          </p:nvPr>
        </p:nvSpPr>
        <p:spPr>
          <a:xfrm>
            <a:off x="393097" y="3810000"/>
            <a:ext cx="11353800" cy="2543175"/>
          </a:xfrm>
        </p:spPr>
        <p:txBody>
          <a:bodyPr wrap="square" lIns="91440" tIns="45720" rIns="91440" bIns="45720" anchor="t">
            <a:noAutofit/>
          </a:bodyPr>
          <a:lstStyle/>
          <a:p>
            <a:pPr marL="228600" indent="-165100" algn="l">
              <a:spcAft>
                <a:spcPts val="900"/>
              </a:spcAft>
              <a:buChar char="•"/>
              <a:defRPr sz="2400" b="0">
                <a:solidFill>
                  <a:srgbClr val="000000"/>
                </a:solidFill>
                <a:latin typeface="Calibri"/>
                <a:ea typeface="Calibri"/>
                <a:cs typeface="Calibri"/>
              </a:defRPr>
            </a:pPr>
            <a:r>
              <a:rPr sz="2400" b="0" dirty="0">
                <a:solidFill>
                  <a:srgbClr val="000000"/>
                </a:solidFill>
                <a:latin typeface="Calibri"/>
                <a:ea typeface="Calibri"/>
                <a:cs typeface="Calibri"/>
              </a:rPr>
              <a:t>Four assignments planned, with the lowest dropped</a:t>
            </a:r>
            <a:r>
              <a:rPr lang="tr-TR" sz="2400" b="0" dirty="0">
                <a:solidFill>
                  <a:srgbClr val="000000"/>
                </a:solidFill>
                <a:latin typeface="Calibri"/>
                <a:ea typeface="Calibri"/>
                <a:cs typeface="Calibri"/>
              </a:rPr>
              <a:t>. </a:t>
            </a:r>
            <a:r>
              <a:rPr sz="2400" b="0" dirty="0">
                <a:solidFill>
                  <a:srgbClr val="000000"/>
                </a:solidFill>
                <a:latin typeface="Calibri"/>
                <a:ea typeface="Calibri"/>
                <a:cs typeface="Calibri"/>
              </a:rPr>
              <a:t>The count may change. If more than three are offered, the lowest is dropped</a:t>
            </a:r>
          </a:p>
          <a:p>
            <a:pPr marL="228600" indent="-165100" algn="l">
              <a:spcAft>
                <a:spcPts val="900"/>
              </a:spcAft>
              <a:buChar char="•"/>
              <a:defRPr sz="2400" b="0">
                <a:solidFill>
                  <a:srgbClr val="000000"/>
                </a:solidFill>
                <a:latin typeface="Calibri"/>
                <a:ea typeface="Calibri"/>
                <a:cs typeface="Calibri"/>
              </a:defRPr>
            </a:pPr>
            <a:r>
              <a:rPr sz="2400" b="0" dirty="0">
                <a:solidFill>
                  <a:srgbClr val="000000"/>
                </a:solidFill>
                <a:latin typeface="Calibri"/>
                <a:ea typeface="Calibri"/>
                <a:cs typeface="Calibri"/>
              </a:rPr>
              <a:t>Each midterm covers a different set of topics</a:t>
            </a:r>
          </a:p>
          <a:p>
            <a:pPr marL="228600" indent="-165100" algn="l">
              <a:spcAft>
                <a:spcPts val="900"/>
              </a:spcAft>
              <a:buChar char="•"/>
              <a:defRPr sz="2400" b="0">
                <a:solidFill>
                  <a:srgbClr val="000000"/>
                </a:solidFill>
                <a:latin typeface="Calibri"/>
                <a:ea typeface="Calibri"/>
                <a:cs typeface="Calibri"/>
              </a:defRPr>
            </a:pPr>
            <a:r>
              <a:rPr sz="2400" b="0" dirty="0">
                <a:solidFill>
                  <a:srgbClr val="000000"/>
                </a:solidFill>
                <a:latin typeface="Calibri"/>
                <a:ea typeface="Calibri"/>
                <a:cs typeface="Calibri"/>
              </a:rPr>
              <a:t>No final exam</a:t>
            </a:r>
          </a:p>
        </p:txBody>
      </p:sp>
      <p:graphicFrame>
        <p:nvGraphicFramePr>
          <p:cNvPr id="7" name="Table 6"/>
          <p:cNvGraphicFramePr/>
          <p:nvPr/>
        </p:nvGraphicFramePr>
        <p:xfrm>
          <a:off x="485775" y="1457325"/>
          <a:ext cx="10763250" cy="2114552"/>
        </p:xfrm>
        <a:graphic>
          <a:graphicData uri="http://schemas.openxmlformats.org/drawingml/2006/table">
            <a:tbl>
              <a:tblPr firstRow="1"/>
              <a:tblGrid>
                <a:gridCol w="8334375">
                  <a:extLst>
                    <a:ext uri="{9D8B030D-6E8A-4147-A177-3AD203B41FA5}">
                      <a16:colId xmlns:a16="http://schemas.microsoft.com/office/drawing/2014/main" val="20000"/>
                    </a:ext>
                  </a:extLst>
                </a:gridCol>
                <a:gridCol w="2428875">
                  <a:extLst>
                    <a:ext uri="{9D8B030D-6E8A-4147-A177-3AD203B41FA5}">
                      <a16:colId xmlns:a16="http://schemas.microsoft.com/office/drawing/2014/main" val="20001"/>
                    </a:ext>
                  </a:extLst>
                </a:gridCol>
              </a:tblGrid>
              <a:tr h="528638">
                <a:tc>
                  <a:txBody>
                    <a:bodyPr/>
                    <a:lstStyle/>
                    <a:p>
                      <a:pPr algn="l"/>
                      <a:r>
                        <a:rPr sz="2400" b="1">
                          <a:solidFill>
                            <a:srgbClr val="C00000"/>
                          </a:solidFill>
                          <a:latin typeface="Calibri"/>
                          <a:ea typeface="Calibri"/>
                          <a:cs typeface="Calibri"/>
                        </a:rPr>
                        <a:t>Component</a:t>
                      </a:r>
                    </a:p>
                  </a:txBody>
                  <a:tcPr anchor="ctr">
                    <a:solidFill>
                      <a:srgbClr val="FFFFFF"/>
                    </a:solidFill>
                  </a:tcPr>
                </a:tc>
                <a:tc>
                  <a:txBody>
                    <a:bodyPr/>
                    <a:lstStyle/>
                    <a:p>
                      <a:pPr algn="ctr"/>
                      <a:r>
                        <a:rPr sz="2400" b="1">
                          <a:solidFill>
                            <a:srgbClr val="C00000"/>
                          </a:solidFill>
                          <a:latin typeface="Calibri"/>
                          <a:ea typeface="Calibri"/>
                          <a:cs typeface="Calibri"/>
                        </a:rPr>
                        <a:t>Course grade</a:t>
                      </a:r>
                    </a:p>
                  </a:txBody>
                  <a:tcPr anchor="ctr">
                    <a:solidFill>
                      <a:srgbClr val="FFFFFF"/>
                    </a:solidFill>
                  </a:tcPr>
                </a:tc>
                <a:extLst>
                  <a:ext uri="{0D108BD9-81ED-4DB2-BD59-A6C34878D82A}">
                    <a16:rowId xmlns:a16="http://schemas.microsoft.com/office/drawing/2014/main" val="10000"/>
                  </a:ext>
                </a:extLst>
              </a:tr>
              <a:tr h="528638">
                <a:tc>
                  <a:txBody>
                    <a:bodyPr/>
                    <a:lstStyle/>
                    <a:p>
                      <a:pPr algn="l"/>
                      <a:r>
                        <a:rPr sz="2400" b="0">
                          <a:solidFill>
                            <a:srgbClr val="000000"/>
                          </a:solidFill>
                          <a:latin typeface="Calibri"/>
                          <a:ea typeface="Calibri"/>
                          <a:cs typeface="Calibri"/>
                        </a:rPr>
                        <a:t>Individual programming assignments</a:t>
                      </a:r>
                    </a:p>
                  </a:txBody>
                  <a:tcPr anchor="ctr">
                    <a:solidFill>
                      <a:srgbClr val="FFFFFF"/>
                    </a:solidFill>
                  </a:tcPr>
                </a:tc>
                <a:tc>
                  <a:txBody>
                    <a:bodyPr/>
                    <a:lstStyle/>
                    <a:p>
                      <a:pPr algn="ctr"/>
                      <a:r>
                        <a:rPr sz="2400" b="0">
                          <a:solidFill>
                            <a:srgbClr val="000000"/>
                          </a:solidFill>
                          <a:latin typeface="Calibri"/>
                          <a:ea typeface="Calibri"/>
                          <a:cs typeface="Calibri"/>
                        </a:rPr>
                        <a:t>20%</a:t>
                      </a:r>
                    </a:p>
                  </a:txBody>
                  <a:tcPr anchor="ctr">
                    <a:solidFill>
                      <a:srgbClr val="FFFFFF"/>
                    </a:solidFill>
                  </a:tcPr>
                </a:tc>
                <a:extLst>
                  <a:ext uri="{0D108BD9-81ED-4DB2-BD59-A6C34878D82A}">
                    <a16:rowId xmlns:a16="http://schemas.microsoft.com/office/drawing/2014/main" val="10001"/>
                  </a:ext>
                </a:extLst>
              </a:tr>
              <a:tr h="528638">
                <a:tc>
                  <a:txBody>
                    <a:bodyPr/>
                    <a:lstStyle/>
                    <a:p>
                      <a:pPr algn="l"/>
                      <a:r>
                        <a:rPr sz="2400" b="0">
                          <a:solidFill>
                            <a:srgbClr val="000000"/>
                          </a:solidFill>
                          <a:latin typeface="Calibri"/>
                          <a:ea typeface="Calibri"/>
                          <a:cs typeface="Calibri"/>
                        </a:rPr>
                        <a:t>Three midterms, 15% each</a:t>
                      </a:r>
                    </a:p>
                  </a:txBody>
                  <a:tcPr anchor="ctr">
                    <a:solidFill>
                      <a:srgbClr val="FFFFFF"/>
                    </a:solidFill>
                  </a:tcPr>
                </a:tc>
                <a:tc>
                  <a:txBody>
                    <a:bodyPr/>
                    <a:lstStyle/>
                    <a:p>
                      <a:pPr algn="ctr"/>
                      <a:r>
                        <a:rPr sz="2400" b="0">
                          <a:solidFill>
                            <a:srgbClr val="000000"/>
                          </a:solidFill>
                          <a:latin typeface="Calibri"/>
                          <a:ea typeface="Calibri"/>
                          <a:cs typeface="Calibri"/>
                        </a:rPr>
                        <a:t>45%</a:t>
                      </a:r>
                    </a:p>
                  </a:txBody>
                  <a:tcPr anchor="ctr">
                    <a:solidFill>
                      <a:srgbClr val="FFFFFF"/>
                    </a:solidFill>
                  </a:tcPr>
                </a:tc>
                <a:extLst>
                  <a:ext uri="{0D108BD9-81ED-4DB2-BD59-A6C34878D82A}">
                    <a16:rowId xmlns:a16="http://schemas.microsoft.com/office/drawing/2014/main" val="10002"/>
                  </a:ext>
                </a:extLst>
              </a:tr>
              <a:tr h="528638">
                <a:tc>
                  <a:txBody>
                    <a:bodyPr/>
                    <a:lstStyle/>
                    <a:p>
                      <a:pPr algn="l"/>
                      <a:r>
                        <a:rPr sz="2400" b="0">
                          <a:solidFill>
                            <a:srgbClr val="000000"/>
                          </a:solidFill>
                          <a:latin typeface="Calibri"/>
                          <a:ea typeface="Calibri"/>
                          <a:cs typeface="Calibri"/>
                        </a:rPr>
                        <a:t>Semester project</a:t>
                      </a:r>
                    </a:p>
                  </a:txBody>
                  <a:tcPr anchor="ctr">
                    <a:solidFill>
                      <a:srgbClr val="FFFFFF"/>
                    </a:solidFill>
                  </a:tcPr>
                </a:tc>
                <a:tc>
                  <a:txBody>
                    <a:bodyPr/>
                    <a:lstStyle/>
                    <a:p>
                      <a:pPr algn="ctr"/>
                      <a:r>
                        <a:rPr sz="2400" b="0">
                          <a:solidFill>
                            <a:srgbClr val="000000"/>
                          </a:solidFill>
                          <a:latin typeface="Calibri"/>
                          <a:ea typeface="Calibri"/>
                          <a:cs typeface="Calibri"/>
                        </a:rPr>
                        <a:t>35%</a:t>
                      </a:r>
                    </a:p>
                  </a:txBody>
                  <a:tcPr anchor="ctr">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3941441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F5C816-0E02-44CF-AA00-48E1EB6A1972}"/>
              </a:ext>
            </a:extLst>
          </p:cNvPr>
          <p:cNvSpPr>
            <a:spLocks noGrp="1"/>
          </p:cNvSpPr>
          <p:nvPr>
            <p:ph type="title"/>
          </p:nvPr>
        </p:nvSpPr>
        <p:spPr>
          <a:xfrm>
            <a:off x="393097" y="31337"/>
            <a:ext cx="11353800" cy="1325594"/>
          </a:xfrm>
        </p:spPr>
        <p:txBody>
          <a:bodyPr wrap="square" lIns="91440" tIns="45720" rIns="91440" bIns="45720" anchor="ctr">
            <a:noAutofit/>
          </a:bodyPr>
          <a:lstStyle/>
          <a:p>
            <a:pPr marL="0" indent="0" algn="l">
              <a:buNone/>
              <a:defRPr sz="4400" b="0">
                <a:solidFill>
                  <a:srgbClr val="C00000"/>
                </a:solidFill>
                <a:latin typeface="Calibri Light"/>
                <a:ea typeface="Calibri Light"/>
                <a:cs typeface="Calibri Light"/>
              </a:defRPr>
            </a:pPr>
            <a:r>
              <a:rPr sz="4400" b="0">
                <a:solidFill>
                  <a:srgbClr val="C00000"/>
                </a:solidFill>
                <a:latin typeface="Calibri Light"/>
                <a:ea typeface="Calibri Light"/>
                <a:cs typeface="Calibri Light"/>
              </a:rPr>
              <a:t>Semester project</a:t>
            </a:r>
          </a:p>
        </p:txBody>
      </p:sp>
      <p:sp>
        <p:nvSpPr>
          <p:cNvPr id="3" name="Content Placeholder 2">
            <a:extLst>
              <a:ext uri="{FF2B5EF4-FFF2-40B4-BE49-F238E27FC236}">
                <a16:creationId xmlns:a16="http://schemas.microsoft.com/office/drawing/2014/main" id="{DED6B8B4-8916-45DB-87BF-89B332D7117E}"/>
              </a:ext>
            </a:extLst>
          </p:cNvPr>
          <p:cNvSpPr>
            <a:spLocks noGrp="1"/>
          </p:cNvSpPr>
          <p:nvPr>
            <p:ph idx="1"/>
          </p:nvPr>
        </p:nvSpPr>
        <p:spPr>
          <a:xfrm>
            <a:off x="393097" y="1333500"/>
            <a:ext cx="11353800" cy="914400"/>
          </a:xfrm>
        </p:spPr>
        <p:txBody>
          <a:bodyPr wrap="square" lIns="91440" tIns="45720" rIns="91440" bIns="45720" anchor="t">
            <a:noAutofit/>
          </a:bodyPr>
          <a:lstStyle/>
          <a:p>
            <a:pPr marL="0" indent="0" algn="l">
              <a:spcAft>
                <a:spcPts val="0"/>
              </a:spcAft>
              <a:buNone/>
              <a:defRPr sz="2400" b="0">
                <a:solidFill>
                  <a:srgbClr val="000000"/>
                </a:solidFill>
                <a:latin typeface="Calibri"/>
                <a:ea typeface="Calibri"/>
                <a:cs typeface="Calibri"/>
              </a:defRPr>
            </a:pPr>
            <a:r>
              <a:rPr sz="2400" b="0">
                <a:solidFill>
                  <a:srgbClr val="000000"/>
                </a:solidFill>
                <a:latin typeface="Calibri"/>
                <a:ea typeface="Calibri"/>
                <a:cs typeface="Calibri"/>
              </a:rPr>
              <a:t>Formulate an RL problem, build a solution, compare with a meaningful baseline and evaluate the results.</a:t>
            </a:r>
          </a:p>
        </p:txBody>
      </p:sp>
      <p:graphicFrame>
        <p:nvGraphicFramePr>
          <p:cNvPr id="8" name="Table 7"/>
          <p:cNvGraphicFramePr/>
          <p:nvPr/>
        </p:nvGraphicFramePr>
        <p:xfrm>
          <a:off x="485775" y="2400300"/>
          <a:ext cx="10763250" cy="2800350"/>
        </p:xfrm>
        <a:graphic>
          <a:graphicData uri="http://schemas.openxmlformats.org/drawingml/2006/table">
            <a:tbl>
              <a:tblPr firstRow="1"/>
              <a:tblGrid>
                <a:gridCol w="8334375">
                  <a:extLst>
                    <a:ext uri="{9D8B030D-6E8A-4147-A177-3AD203B41FA5}">
                      <a16:colId xmlns:a16="http://schemas.microsoft.com/office/drawing/2014/main" val="20000"/>
                    </a:ext>
                  </a:extLst>
                </a:gridCol>
                <a:gridCol w="2428875">
                  <a:extLst>
                    <a:ext uri="{9D8B030D-6E8A-4147-A177-3AD203B41FA5}">
                      <a16:colId xmlns:a16="http://schemas.microsoft.com/office/drawing/2014/main" val="20001"/>
                    </a:ext>
                  </a:extLst>
                </a:gridCol>
              </a:tblGrid>
              <a:tr h="466725">
                <a:tc>
                  <a:txBody>
                    <a:bodyPr/>
                    <a:lstStyle/>
                    <a:p>
                      <a:pPr algn="l"/>
                      <a:r>
                        <a:rPr sz="2400" b="1">
                          <a:solidFill>
                            <a:srgbClr val="C00000"/>
                          </a:solidFill>
                          <a:latin typeface="Calibri"/>
                          <a:ea typeface="Calibri"/>
                          <a:cs typeface="Calibri"/>
                        </a:rPr>
                        <a:t>Milestone</a:t>
                      </a:r>
                    </a:p>
                  </a:txBody>
                  <a:tcPr anchor="ctr">
                    <a:solidFill>
                      <a:srgbClr val="FFFFFF"/>
                    </a:solidFill>
                  </a:tcPr>
                </a:tc>
                <a:tc>
                  <a:txBody>
                    <a:bodyPr/>
                    <a:lstStyle/>
                    <a:p>
                      <a:pPr algn="ctr"/>
                      <a:r>
                        <a:rPr sz="2400" b="1">
                          <a:solidFill>
                            <a:srgbClr val="C00000"/>
                          </a:solidFill>
                          <a:latin typeface="Calibri"/>
                          <a:ea typeface="Calibri"/>
                          <a:cs typeface="Calibri"/>
                        </a:rPr>
                        <a:t>Course grade</a:t>
                      </a:r>
                    </a:p>
                  </a:txBody>
                  <a:tcPr anchor="ctr">
                    <a:solidFill>
                      <a:srgbClr val="FFFFFF"/>
                    </a:solidFill>
                  </a:tcPr>
                </a:tc>
                <a:extLst>
                  <a:ext uri="{0D108BD9-81ED-4DB2-BD59-A6C34878D82A}">
                    <a16:rowId xmlns:a16="http://schemas.microsoft.com/office/drawing/2014/main" val="10000"/>
                  </a:ext>
                </a:extLst>
              </a:tr>
              <a:tr h="466725">
                <a:tc>
                  <a:txBody>
                    <a:bodyPr/>
                    <a:lstStyle/>
                    <a:p>
                      <a:pPr algn="l"/>
                      <a:r>
                        <a:rPr sz="2400" b="0">
                          <a:solidFill>
                            <a:srgbClr val="000000"/>
                          </a:solidFill>
                          <a:latin typeface="Calibri"/>
                          <a:ea typeface="Calibri"/>
                          <a:cs typeface="Calibri"/>
                        </a:rPr>
                        <a:t>Proposal</a:t>
                      </a:r>
                    </a:p>
                  </a:txBody>
                  <a:tcPr anchor="ctr">
                    <a:solidFill>
                      <a:srgbClr val="FFFFFF"/>
                    </a:solidFill>
                  </a:tcPr>
                </a:tc>
                <a:tc>
                  <a:txBody>
                    <a:bodyPr/>
                    <a:lstStyle/>
                    <a:p>
                      <a:pPr algn="ctr"/>
                      <a:r>
                        <a:rPr sz="2400" b="0">
                          <a:solidFill>
                            <a:srgbClr val="000000"/>
                          </a:solidFill>
                          <a:latin typeface="Calibri"/>
                          <a:ea typeface="Calibri"/>
                          <a:cs typeface="Calibri"/>
                        </a:rPr>
                        <a:t>5%</a:t>
                      </a:r>
                    </a:p>
                  </a:txBody>
                  <a:tcPr anchor="ctr">
                    <a:solidFill>
                      <a:srgbClr val="FFFFFF"/>
                    </a:solidFill>
                  </a:tcPr>
                </a:tc>
                <a:extLst>
                  <a:ext uri="{0D108BD9-81ED-4DB2-BD59-A6C34878D82A}">
                    <a16:rowId xmlns:a16="http://schemas.microsoft.com/office/drawing/2014/main" val="10001"/>
                  </a:ext>
                </a:extLst>
              </a:tr>
              <a:tr h="466725">
                <a:tc>
                  <a:txBody>
                    <a:bodyPr/>
                    <a:lstStyle/>
                    <a:p>
                      <a:pPr algn="l"/>
                      <a:r>
                        <a:rPr sz="2400" b="0">
                          <a:solidFill>
                            <a:srgbClr val="000000"/>
                          </a:solidFill>
                          <a:latin typeface="Calibri"/>
                          <a:ea typeface="Calibri"/>
                          <a:cs typeface="Calibri"/>
                        </a:rPr>
                        <a:t>Formulation and design</a:t>
                      </a:r>
                    </a:p>
                  </a:txBody>
                  <a:tcPr anchor="ctr">
                    <a:solidFill>
                      <a:srgbClr val="FFFFFF"/>
                    </a:solidFill>
                  </a:tcPr>
                </a:tc>
                <a:tc>
                  <a:txBody>
                    <a:bodyPr/>
                    <a:lstStyle/>
                    <a:p>
                      <a:pPr algn="ctr"/>
                      <a:r>
                        <a:rPr sz="2400" b="0">
                          <a:solidFill>
                            <a:srgbClr val="000000"/>
                          </a:solidFill>
                          <a:latin typeface="Calibri"/>
                          <a:ea typeface="Calibri"/>
                          <a:cs typeface="Calibri"/>
                        </a:rPr>
                        <a:t>5%</a:t>
                      </a:r>
                    </a:p>
                  </a:txBody>
                  <a:tcPr anchor="ctr">
                    <a:solidFill>
                      <a:srgbClr val="FFFFFF"/>
                    </a:solidFill>
                  </a:tcPr>
                </a:tc>
                <a:extLst>
                  <a:ext uri="{0D108BD9-81ED-4DB2-BD59-A6C34878D82A}">
                    <a16:rowId xmlns:a16="http://schemas.microsoft.com/office/drawing/2014/main" val="10002"/>
                  </a:ext>
                </a:extLst>
              </a:tr>
              <a:tr h="466725">
                <a:tc>
                  <a:txBody>
                    <a:bodyPr/>
                    <a:lstStyle/>
                    <a:p>
                      <a:pPr algn="l"/>
                      <a:r>
                        <a:rPr sz="2400" b="0">
                          <a:solidFill>
                            <a:srgbClr val="000000"/>
                          </a:solidFill>
                          <a:latin typeface="Calibri"/>
                          <a:ea typeface="Calibri"/>
                          <a:cs typeface="Calibri"/>
                        </a:rPr>
                        <a:t>Progress and evaluation</a:t>
                      </a:r>
                    </a:p>
                  </a:txBody>
                  <a:tcPr anchor="ctr">
                    <a:solidFill>
                      <a:srgbClr val="FFFFFF"/>
                    </a:solidFill>
                  </a:tcPr>
                </a:tc>
                <a:tc>
                  <a:txBody>
                    <a:bodyPr/>
                    <a:lstStyle/>
                    <a:p>
                      <a:pPr algn="ctr"/>
                      <a:r>
                        <a:rPr sz="2400" b="0">
                          <a:solidFill>
                            <a:srgbClr val="000000"/>
                          </a:solidFill>
                          <a:latin typeface="Calibri"/>
                          <a:ea typeface="Calibri"/>
                          <a:cs typeface="Calibri"/>
                        </a:rPr>
                        <a:t>7.5%</a:t>
                      </a:r>
                    </a:p>
                  </a:txBody>
                  <a:tcPr anchor="ctr">
                    <a:solidFill>
                      <a:srgbClr val="FFFFFF"/>
                    </a:solidFill>
                  </a:tcPr>
                </a:tc>
                <a:extLst>
                  <a:ext uri="{0D108BD9-81ED-4DB2-BD59-A6C34878D82A}">
                    <a16:rowId xmlns:a16="http://schemas.microsoft.com/office/drawing/2014/main" val="10003"/>
                  </a:ext>
                </a:extLst>
              </a:tr>
              <a:tr h="466725">
                <a:tc>
                  <a:txBody>
                    <a:bodyPr/>
                    <a:lstStyle/>
                    <a:p>
                      <a:pPr algn="l"/>
                      <a:r>
                        <a:rPr sz="2400" b="0">
                          <a:solidFill>
                            <a:srgbClr val="000000"/>
                          </a:solidFill>
                          <a:latin typeface="Calibri"/>
                          <a:ea typeface="Calibri"/>
                          <a:cs typeface="Calibri"/>
                        </a:rPr>
                        <a:t>Presentation</a:t>
                      </a:r>
                    </a:p>
                  </a:txBody>
                  <a:tcPr anchor="ctr">
                    <a:solidFill>
                      <a:srgbClr val="FFFFFF"/>
                    </a:solidFill>
                  </a:tcPr>
                </a:tc>
                <a:tc>
                  <a:txBody>
                    <a:bodyPr/>
                    <a:lstStyle/>
                    <a:p>
                      <a:pPr algn="ctr"/>
                      <a:r>
                        <a:rPr sz="2400" b="0">
                          <a:solidFill>
                            <a:srgbClr val="000000"/>
                          </a:solidFill>
                          <a:latin typeface="Calibri"/>
                          <a:ea typeface="Calibri"/>
                          <a:cs typeface="Calibri"/>
                        </a:rPr>
                        <a:t>7.5%</a:t>
                      </a:r>
                    </a:p>
                  </a:txBody>
                  <a:tcPr anchor="ctr">
                    <a:solidFill>
                      <a:srgbClr val="FFFFFF"/>
                    </a:solidFill>
                  </a:tcPr>
                </a:tc>
                <a:extLst>
                  <a:ext uri="{0D108BD9-81ED-4DB2-BD59-A6C34878D82A}">
                    <a16:rowId xmlns:a16="http://schemas.microsoft.com/office/drawing/2014/main" val="10004"/>
                  </a:ext>
                </a:extLst>
              </a:tr>
              <a:tr h="466725">
                <a:tc>
                  <a:txBody>
                    <a:bodyPr/>
                    <a:lstStyle/>
                    <a:p>
                      <a:pPr algn="l"/>
                      <a:r>
                        <a:rPr sz="2400" b="0">
                          <a:solidFill>
                            <a:srgbClr val="000000"/>
                          </a:solidFill>
                          <a:latin typeface="Calibri"/>
                          <a:ea typeface="Calibri"/>
                          <a:cs typeface="Calibri"/>
                        </a:rPr>
                        <a:t>Final report</a:t>
                      </a:r>
                    </a:p>
                  </a:txBody>
                  <a:tcPr anchor="ctr">
                    <a:solidFill>
                      <a:srgbClr val="FFFFFF"/>
                    </a:solidFill>
                  </a:tcPr>
                </a:tc>
                <a:tc>
                  <a:txBody>
                    <a:bodyPr/>
                    <a:lstStyle/>
                    <a:p>
                      <a:pPr algn="ctr"/>
                      <a:r>
                        <a:rPr sz="2400" b="0">
                          <a:solidFill>
                            <a:srgbClr val="000000"/>
                          </a:solidFill>
                          <a:latin typeface="Calibri"/>
                          <a:ea typeface="Calibri"/>
                          <a:cs typeface="Calibri"/>
                        </a:rPr>
                        <a:t>10%</a:t>
                      </a:r>
                    </a:p>
                  </a:txBody>
                  <a:tcPr anchor="ctr">
                    <a:solidFill>
                      <a:srgbClr val="FFFFFF"/>
                    </a:solidFill>
                  </a:tcPr>
                </a:tc>
                <a:extLst>
                  <a:ext uri="{0D108BD9-81ED-4DB2-BD59-A6C34878D82A}">
                    <a16:rowId xmlns:a16="http://schemas.microsoft.com/office/drawing/2014/main" val="10005"/>
                  </a:ext>
                </a:extLst>
              </a:tr>
            </a:tbl>
          </a:graphicData>
        </a:graphic>
      </p:graphicFrame>
      <p:sp>
        <p:nvSpPr>
          <p:cNvPr id="5" name="Project teams">
            <a:extLst>
              <a:ext uri="{FF2B5EF4-FFF2-40B4-BE49-F238E27FC236}">
                <a16:creationId xmlns:a16="http://schemas.microsoft.com/office/drawing/2014/main" id="{6C052CB9-0EBE-4B5A-8F00-04E21CA8E148}"/>
              </a:ext>
            </a:extLst>
          </p:cNvPr>
          <p:cNvSpPr>
            <a:spLocks noGrp="1"/>
          </p:cNvSpPr>
          <p:nvPr/>
        </p:nvSpPr>
        <p:spPr>
          <a:xfrm>
            <a:off x="393097" y="5448300"/>
            <a:ext cx="11353800" cy="952500"/>
          </a:xfrm>
          <a:prstGeom prst="rect">
            <a:avLst/>
          </a:prstGeom>
          <a:noFill/>
          <a:ln w="0">
            <a:noFill/>
          </a:ln>
        </p:spPr>
        <p:txBody>
          <a:bodyPr wrap="square" lIns="91440" tIns="45720" rIns="91440" bIns="45720" anchor="t">
            <a:noAutofit/>
          </a:bodyPr>
          <a:lstStyle/>
          <a:p>
            <a:pPr marL="0" indent="0" algn="l">
              <a:spcAft>
                <a:spcPts val="0"/>
              </a:spcAft>
              <a:buNone/>
              <a:defRPr sz="2400" b="0">
                <a:solidFill>
                  <a:srgbClr val="000000"/>
                </a:solidFill>
                <a:latin typeface="Calibri"/>
                <a:ea typeface="Calibri"/>
                <a:cs typeface="Calibri"/>
              </a:defRPr>
            </a:pPr>
            <a:r>
              <a:rPr sz="2400" b="0">
                <a:solidFill>
                  <a:srgbClr val="000000"/>
                </a:solidFill>
                <a:latin typeface="Calibri"/>
                <a:ea typeface="Calibri"/>
                <a:cs typeface="Calibri"/>
              </a:rPr>
              <a:t>Teams of 2–3 encouraged. Individual and four-person teams considered case by case.</a:t>
            </a:r>
          </a:p>
        </p:txBody>
      </p:sp>
    </p:spTree>
    <p:extLst>
      <p:ext uri="{BB962C8B-B14F-4D97-AF65-F5344CB8AC3E}">
        <p14:creationId xmlns:p14="http://schemas.microsoft.com/office/powerpoint/2010/main" val="5960822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062B9-0684-158C-A85A-859928554FEB}"/>
              </a:ext>
            </a:extLst>
          </p:cNvPr>
          <p:cNvSpPr>
            <a:spLocks noGrp="1"/>
          </p:cNvSpPr>
          <p:nvPr>
            <p:ph type="title"/>
          </p:nvPr>
        </p:nvSpPr>
        <p:spPr>
          <a:xfrm>
            <a:off x="393097" y="31337"/>
            <a:ext cx="11353800" cy="1325594"/>
          </a:xfrm>
        </p:spPr>
        <p:txBody>
          <a:bodyPr wrap="square" lIns="91440" tIns="45720" rIns="91440" bIns="45720" anchor="ctr">
            <a:noAutofit/>
          </a:bodyPr>
          <a:lstStyle/>
          <a:p>
            <a:pPr marL="0" indent="0" algn="l">
              <a:buNone/>
              <a:defRPr sz="4400" b="0">
                <a:solidFill>
                  <a:srgbClr val="C00000"/>
                </a:solidFill>
                <a:latin typeface="Calibri Light"/>
                <a:ea typeface="Calibri Light"/>
                <a:cs typeface="Calibri Light"/>
              </a:defRPr>
            </a:pPr>
            <a:r>
              <a:rPr sz="4400" b="0">
                <a:solidFill>
                  <a:srgbClr val="C00000"/>
                </a:solidFill>
                <a:latin typeface="Calibri Light"/>
                <a:ea typeface="Calibri Light"/>
                <a:cs typeface="Calibri Light"/>
              </a:rPr>
              <a:t>LLM use in coursework</a:t>
            </a:r>
          </a:p>
        </p:txBody>
      </p:sp>
      <p:sp>
        <p:nvSpPr>
          <p:cNvPr id="3" name="Content Placeholder 2">
            <a:extLst>
              <a:ext uri="{FF2B5EF4-FFF2-40B4-BE49-F238E27FC236}">
                <a16:creationId xmlns:a16="http://schemas.microsoft.com/office/drawing/2014/main" id="{06DB1807-C66A-A136-7565-3883F05032D2}"/>
              </a:ext>
            </a:extLst>
          </p:cNvPr>
          <p:cNvSpPr>
            <a:spLocks noGrp="1"/>
          </p:cNvSpPr>
          <p:nvPr>
            <p:ph idx="1"/>
          </p:nvPr>
        </p:nvSpPr>
        <p:spPr>
          <a:xfrm>
            <a:off x="393097" y="1476375"/>
            <a:ext cx="11353800" cy="4876800"/>
          </a:xfrm>
        </p:spPr>
        <p:txBody>
          <a:bodyPr wrap="square" lIns="91440" tIns="45720" rIns="91440" bIns="45720" anchor="t">
            <a:noAutofit/>
          </a:bodyPr>
          <a:lstStyle/>
          <a:p>
            <a:pPr marL="228600" indent="-165100" algn="l">
              <a:spcAft>
                <a:spcPts val="1600"/>
              </a:spcAft>
              <a:buChar char="•"/>
              <a:defRPr sz="2600" b="0">
                <a:solidFill>
                  <a:srgbClr val="000000"/>
                </a:solidFill>
                <a:latin typeface="Calibri"/>
                <a:ea typeface="Calibri"/>
                <a:cs typeface="Calibri"/>
              </a:defRPr>
            </a:pPr>
            <a:r>
              <a:rPr sz="2600" b="0" dirty="0">
                <a:solidFill>
                  <a:srgbClr val="000000"/>
                </a:solidFill>
                <a:latin typeface="Calibri"/>
                <a:ea typeface="Calibri"/>
                <a:cs typeface="Calibri"/>
              </a:rPr>
              <a:t>LLMs may help with coding and reports, with disclosure</a:t>
            </a:r>
          </a:p>
          <a:p>
            <a:pPr marL="228600" indent="-165100" algn="l">
              <a:spcAft>
                <a:spcPts val="1600"/>
              </a:spcAft>
              <a:buChar char="•"/>
              <a:defRPr sz="2600" b="0">
                <a:solidFill>
                  <a:srgbClr val="000000"/>
                </a:solidFill>
                <a:latin typeface="Calibri"/>
                <a:ea typeface="Calibri"/>
                <a:cs typeface="Calibri"/>
              </a:defRPr>
            </a:pPr>
            <a:r>
              <a:rPr sz="2600" b="0" dirty="0">
                <a:solidFill>
                  <a:srgbClr val="000000"/>
                </a:solidFill>
                <a:latin typeface="Calibri"/>
                <a:ea typeface="Calibri"/>
                <a:cs typeface="Calibri"/>
              </a:rPr>
              <a:t>Failure to disclose use is treated as plagiarism</a:t>
            </a:r>
          </a:p>
          <a:p>
            <a:pPr marL="228600" indent="-165100" algn="l">
              <a:spcAft>
                <a:spcPts val="1600"/>
              </a:spcAft>
              <a:buChar char="•"/>
              <a:defRPr sz="2600" b="0">
                <a:solidFill>
                  <a:srgbClr val="000000"/>
                </a:solidFill>
                <a:latin typeface="Calibri"/>
                <a:ea typeface="Calibri"/>
                <a:cs typeface="Calibri"/>
              </a:defRPr>
            </a:pPr>
            <a:r>
              <a:rPr sz="2600" b="0" dirty="0">
                <a:solidFill>
                  <a:srgbClr val="000000"/>
                </a:solidFill>
                <a:latin typeface="Calibri"/>
                <a:ea typeface="Calibri"/>
                <a:cs typeface="Calibri"/>
              </a:rPr>
              <a:t>You must understand, check and explain submitted work</a:t>
            </a:r>
          </a:p>
          <a:p>
            <a:pPr marL="228600" indent="-165100" algn="l">
              <a:spcAft>
                <a:spcPts val="1600"/>
              </a:spcAft>
              <a:buChar char="•"/>
              <a:defRPr sz="2600" b="0">
                <a:solidFill>
                  <a:srgbClr val="000000"/>
                </a:solidFill>
                <a:latin typeface="Calibri"/>
                <a:ea typeface="Calibri"/>
                <a:cs typeface="Calibri"/>
              </a:defRPr>
            </a:pPr>
            <a:r>
              <a:rPr sz="2600" b="0" dirty="0">
                <a:solidFill>
                  <a:srgbClr val="000000"/>
                </a:solidFill>
                <a:latin typeface="Calibri"/>
                <a:ea typeface="Calibri"/>
                <a:cs typeface="Calibri"/>
              </a:rPr>
              <a:t>You remain responsible for errors</a:t>
            </a:r>
          </a:p>
          <a:p>
            <a:pPr marL="228600" indent="-165100" algn="l">
              <a:spcAft>
                <a:spcPts val="1600"/>
              </a:spcAft>
              <a:buChar char="•"/>
              <a:defRPr sz="2600" b="0">
                <a:solidFill>
                  <a:srgbClr val="000000"/>
                </a:solidFill>
                <a:latin typeface="Calibri"/>
                <a:ea typeface="Calibri"/>
                <a:cs typeface="Calibri"/>
              </a:defRPr>
            </a:pPr>
            <a:r>
              <a:rPr sz="2600" b="0" dirty="0">
                <a:solidFill>
                  <a:srgbClr val="000000"/>
                </a:solidFill>
                <a:latin typeface="Calibri"/>
                <a:ea typeface="Calibri"/>
                <a:cs typeface="Calibri"/>
              </a:rPr>
              <a:t>An LLM-use report is required for every assignment and report</a:t>
            </a:r>
          </a:p>
          <a:p>
            <a:pPr marL="228600" indent="-165100" algn="l">
              <a:spcAft>
                <a:spcPts val="1600"/>
              </a:spcAft>
              <a:buChar char="•"/>
              <a:defRPr sz="2600" b="0">
                <a:solidFill>
                  <a:srgbClr val="000000"/>
                </a:solidFill>
                <a:latin typeface="Calibri"/>
                <a:ea typeface="Calibri"/>
                <a:cs typeface="Calibri"/>
              </a:defRPr>
            </a:pPr>
            <a:r>
              <a:rPr sz="2600" b="0" dirty="0">
                <a:solidFill>
                  <a:srgbClr val="000000"/>
                </a:solidFill>
                <a:latin typeface="Calibri"/>
                <a:ea typeface="Calibri"/>
                <a:cs typeface="Calibri"/>
              </a:rPr>
              <a:t>One-shot or few-shot delegation of an assignment solution receives no credit</a:t>
            </a:r>
          </a:p>
        </p:txBody>
      </p:sp>
    </p:spTree>
    <p:extLst>
      <p:ext uri="{BB962C8B-B14F-4D97-AF65-F5344CB8AC3E}">
        <p14:creationId xmlns:p14="http://schemas.microsoft.com/office/powerpoint/2010/main" val="16455248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51DA38-1EF8-C4D3-FEF8-074BBE4B6EBB}"/>
              </a:ext>
            </a:extLst>
          </p:cNvPr>
          <p:cNvSpPr>
            <a:spLocks noGrp="1"/>
          </p:cNvSpPr>
          <p:nvPr>
            <p:ph type="title"/>
          </p:nvPr>
        </p:nvSpPr>
        <p:spPr>
          <a:xfrm>
            <a:off x="393097" y="31337"/>
            <a:ext cx="11353800" cy="1325594"/>
          </a:xfrm>
        </p:spPr>
        <p:txBody>
          <a:bodyPr wrap="square" lIns="91440" tIns="45720" rIns="91440" bIns="45720" anchor="ctr">
            <a:noAutofit/>
          </a:bodyPr>
          <a:lstStyle/>
          <a:p>
            <a:pPr marL="0" indent="0" algn="l">
              <a:buNone/>
              <a:defRPr sz="4400" b="0">
                <a:solidFill>
                  <a:srgbClr val="C00000"/>
                </a:solidFill>
                <a:latin typeface="Calibri Light"/>
                <a:ea typeface="Calibri Light"/>
                <a:cs typeface="Calibri Light"/>
              </a:defRPr>
            </a:pPr>
            <a:r>
              <a:rPr sz="4400" b="0">
                <a:solidFill>
                  <a:srgbClr val="C00000"/>
                </a:solidFill>
                <a:latin typeface="Calibri Light"/>
                <a:ea typeface="Calibri Light"/>
                <a:cs typeface="Calibri Light"/>
              </a:rPr>
              <a:t>Writing and exams</a:t>
            </a:r>
          </a:p>
        </p:txBody>
      </p:sp>
      <p:sp>
        <p:nvSpPr>
          <p:cNvPr id="3" name="Content Placeholder 2">
            <a:extLst>
              <a:ext uri="{FF2B5EF4-FFF2-40B4-BE49-F238E27FC236}">
                <a16:creationId xmlns:a16="http://schemas.microsoft.com/office/drawing/2014/main" id="{FA9067D1-25D8-3E5C-8AC4-9A5729D35C6E}"/>
              </a:ext>
            </a:extLst>
          </p:cNvPr>
          <p:cNvSpPr>
            <a:spLocks noGrp="1"/>
          </p:cNvSpPr>
          <p:nvPr>
            <p:ph idx="1"/>
          </p:nvPr>
        </p:nvSpPr>
        <p:spPr>
          <a:xfrm>
            <a:off x="393097" y="1476375"/>
            <a:ext cx="11353800" cy="4876800"/>
          </a:xfrm>
        </p:spPr>
        <p:txBody>
          <a:bodyPr wrap="square" lIns="91440" tIns="45720" rIns="91440" bIns="45720" anchor="t">
            <a:noAutofit/>
          </a:bodyPr>
          <a:lstStyle/>
          <a:p>
            <a:pPr marL="228600" indent="-165100" algn="l">
              <a:spcAft>
                <a:spcPts val="1600"/>
              </a:spcAft>
              <a:buChar char="•"/>
              <a:defRPr sz="2800" b="0">
                <a:solidFill>
                  <a:srgbClr val="000000"/>
                </a:solidFill>
                <a:latin typeface="Calibri"/>
                <a:ea typeface="Calibri"/>
                <a:cs typeface="Calibri"/>
              </a:defRPr>
            </a:pPr>
            <a:r>
              <a:rPr sz="2800" b="0" dirty="0">
                <a:solidFill>
                  <a:srgbClr val="000000"/>
                </a:solidFill>
                <a:latin typeface="Calibri"/>
                <a:ea typeface="Calibri"/>
                <a:cs typeface="Calibri"/>
              </a:rPr>
              <a:t>Project reports should be clear, focused and concise</a:t>
            </a:r>
          </a:p>
          <a:p>
            <a:pPr marL="228600" indent="-165100" algn="l">
              <a:spcAft>
                <a:spcPts val="1600"/>
              </a:spcAft>
              <a:buChar char="•"/>
              <a:defRPr sz="2800" b="0">
                <a:solidFill>
                  <a:srgbClr val="000000"/>
                </a:solidFill>
                <a:latin typeface="Calibri"/>
                <a:ea typeface="Calibri"/>
                <a:cs typeface="Calibri"/>
              </a:defRPr>
            </a:pPr>
            <a:r>
              <a:rPr sz="2800" b="0" dirty="0">
                <a:solidFill>
                  <a:srgbClr val="000000"/>
                </a:solidFill>
                <a:latin typeface="Calibri"/>
                <a:ea typeface="Calibri"/>
                <a:cs typeface="Calibri"/>
              </a:rPr>
              <a:t>Verbose, repetitive, unnecessarily detailed, unfocused</a:t>
            </a:r>
            <a:r>
              <a:rPr lang="tr-TR" dirty="0">
                <a:solidFill>
                  <a:srgbClr val="000000"/>
                </a:solidFill>
                <a:latin typeface="Calibri"/>
                <a:ea typeface="Calibri"/>
                <a:cs typeface="Calibri"/>
              </a:rPr>
              <a:t>, </a:t>
            </a:r>
            <a:r>
              <a:rPr sz="2800" b="0" dirty="0">
                <a:solidFill>
                  <a:srgbClr val="000000"/>
                </a:solidFill>
                <a:latin typeface="Calibri"/>
                <a:ea typeface="Calibri"/>
                <a:cs typeface="Calibri"/>
              </a:rPr>
              <a:t>vague </a:t>
            </a:r>
            <a:r>
              <a:rPr lang="tr-TR" sz="2800" b="0" dirty="0" err="1">
                <a:solidFill>
                  <a:srgbClr val="000000"/>
                </a:solidFill>
                <a:latin typeface="Calibri"/>
                <a:ea typeface="Calibri"/>
                <a:cs typeface="Calibri"/>
              </a:rPr>
              <a:t>or</a:t>
            </a:r>
            <a:r>
              <a:rPr lang="tr-TR" sz="2800" b="0" dirty="0">
                <a:solidFill>
                  <a:srgbClr val="000000"/>
                </a:solidFill>
                <a:latin typeface="Calibri"/>
                <a:ea typeface="Calibri"/>
                <a:cs typeface="Calibri"/>
              </a:rPr>
              <a:t> </a:t>
            </a:r>
            <a:r>
              <a:rPr lang="tr-TR" sz="2800" b="0" dirty="0" err="1">
                <a:solidFill>
                  <a:srgbClr val="000000"/>
                </a:solidFill>
                <a:latin typeface="Calibri"/>
                <a:ea typeface="Calibri"/>
                <a:cs typeface="Calibri"/>
              </a:rPr>
              <a:t>obvious</a:t>
            </a:r>
            <a:r>
              <a:rPr lang="tr-TR" sz="2800" b="0" dirty="0">
                <a:solidFill>
                  <a:srgbClr val="000000"/>
                </a:solidFill>
                <a:latin typeface="Calibri"/>
                <a:ea typeface="Calibri"/>
                <a:cs typeface="Calibri"/>
              </a:rPr>
              <a:t> AI </a:t>
            </a:r>
            <a:r>
              <a:rPr sz="2800" b="0" dirty="0">
                <a:solidFill>
                  <a:srgbClr val="000000"/>
                </a:solidFill>
                <a:latin typeface="Calibri"/>
                <a:ea typeface="Calibri"/>
                <a:cs typeface="Calibri"/>
              </a:rPr>
              <a:t>writing loses marks</a:t>
            </a:r>
          </a:p>
          <a:p>
            <a:pPr marL="228600" indent="-165100" algn="l">
              <a:spcAft>
                <a:spcPts val="1600"/>
              </a:spcAft>
              <a:buChar char="•"/>
              <a:defRPr sz="2800" b="0">
                <a:solidFill>
                  <a:srgbClr val="000000"/>
                </a:solidFill>
                <a:latin typeface="Calibri"/>
                <a:ea typeface="Calibri"/>
                <a:cs typeface="Calibri"/>
              </a:defRPr>
            </a:pPr>
            <a:r>
              <a:rPr sz="2800" b="0" dirty="0">
                <a:solidFill>
                  <a:srgbClr val="000000"/>
                </a:solidFill>
                <a:latin typeface="Calibri"/>
                <a:ea typeface="Calibri"/>
                <a:cs typeface="Calibri"/>
              </a:rPr>
              <a:t>LLMs are not permitted in online or take-home midterms</a:t>
            </a:r>
          </a:p>
          <a:p>
            <a:pPr marL="228600" indent="-165100" algn="l">
              <a:spcAft>
                <a:spcPts val="1600"/>
              </a:spcAft>
              <a:buChar char="•"/>
              <a:defRPr sz="2800" b="0">
                <a:solidFill>
                  <a:srgbClr val="000000"/>
                </a:solidFill>
                <a:latin typeface="Calibri"/>
                <a:ea typeface="Calibri"/>
                <a:cs typeface="Calibri"/>
              </a:defRPr>
            </a:pPr>
            <a:r>
              <a:rPr sz="2800" b="0" dirty="0">
                <a:solidFill>
                  <a:srgbClr val="000000"/>
                </a:solidFill>
                <a:latin typeface="Calibri"/>
                <a:ea typeface="Calibri"/>
                <a:cs typeface="Calibri"/>
              </a:rPr>
              <a:t>University rules on plagiarism and academic conduct apply</a:t>
            </a:r>
          </a:p>
        </p:txBody>
      </p:sp>
    </p:spTree>
    <p:extLst>
      <p:ext uri="{BB962C8B-B14F-4D97-AF65-F5344CB8AC3E}">
        <p14:creationId xmlns:p14="http://schemas.microsoft.com/office/powerpoint/2010/main" val="23782754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2BDDB3-5706-4EA5-931E-AC68EACBA82B}"/>
              </a:ext>
            </a:extLst>
          </p:cNvPr>
          <p:cNvSpPr>
            <a:spLocks noGrp="1"/>
          </p:cNvSpPr>
          <p:nvPr>
            <p:ph type="title"/>
          </p:nvPr>
        </p:nvSpPr>
        <p:spPr>
          <a:xfrm>
            <a:off x="393097" y="31337"/>
            <a:ext cx="11353800" cy="1325594"/>
          </a:xfrm>
        </p:spPr>
        <p:txBody>
          <a:bodyPr wrap="square" lIns="91440" tIns="45720" rIns="91440" bIns="45720" anchor="ctr">
            <a:noAutofit/>
          </a:bodyPr>
          <a:lstStyle/>
          <a:p>
            <a:pPr marL="0" indent="0" algn="l">
              <a:buNone/>
              <a:defRPr sz="4400" b="0">
                <a:solidFill>
                  <a:srgbClr val="C00000"/>
                </a:solidFill>
                <a:latin typeface="Calibri Light"/>
                <a:ea typeface="Calibri Light"/>
                <a:cs typeface="Calibri Light"/>
              </a:defRPr>
            </a:pPr>
            <a:r>
              <a:rPr sz="4400" b="0">
                <a:solidFill>
                  <a:srgbClr val="C00000"/>
                </a:solidFill>
                <a:latin typeface="Calibri Light"/>
                <a:ea typeface="Calibri Light"/>
                <a:cs typeface="Calibri Light"/>
              </a:rPr>
              <a:t>Submissions and late policy</a:t>
            </a:r>
          </a:p>
        </p:txBody>
      </p:sp>
      <p:sp>
        <p:nvSpPr>
          <p:cNvPr id="3" name="Content Placeholder 2">
            <a:extLst>
              <a:ext uri="{FF2B5EF4-FFF2-40B4-BE49-F238E27FC236}">
                <a16:creationId xmlns:a16="http://schemas.microsoft.com/office/drawing/2014/main" id="{79082E04-68C9-41D9-9235-78BFEA38EF90}"/>
              </a:ext>
            </a:extLst>
          </p:cNvPr>
          <p:cNvSpPr>
            <a:spLocks noGrp="1"/>
          </p:cNvSpPr>
          <p:nvPr>
            <p:ph idx="1"/>
          </p:nvPr>
        </p:nvSpPr>
        <p:spPr>
          <a:xfrm>
            <a:off x="393097" y="1476375"/>
            <a:ext cx="11353800" cy="4876800"/>
          </a:xfrm>
        </p:spPr>
        <p:txBody>
          <a:bodyPr wrap="square" lIns="91440" tIns="45720" rIns="91440" bIns="45720" anchor="t">
            <a:noAutofit/>
          </a:bodyPr>
          <a:lstStyle/>
          <a:p>
            <a:pPr marL="228600" indent="-165100" algn="l">
              <a:spcAft>
                <a:spcPts val="1100"/>
              </a:spcAft>
              <a:buChar char="•"/>
              <a:defRPr sz="2600" b="0">
                <a:solidFill>
                  <a:srgbClr val="000000"/>
                </a:solidFill>
                <a:latin typeface="Calibri"/>
                <a:ea typeface="Calibri"/>
                <a:cs typeface="Calibri"/>
              </a:defRPr>
            </a:pPr>
            <a:r>
              <a:rPr sz="2600" b="0" dirty="0">
                <a:solidFill>
                  <a:srgbClr val="000000"/>
                </a:solidFill>
                <a:latin typeface="Calibri"/>
                <a:ea typeface="Calibri"/>
                <a:cs typeface="Calibri"/>
              </a:rPr>
              <a:t>Submit through KU Hub. Email submissions are not accepted</a:t>
            </a:r>
          </a:p>
          <a:p>
            <a:pPr marL="228600" indent="-165100" algn="l">
              <a:spcAft>
                <a:spcPts val="1100"/>
              </a:spcAft>
              <a:buChar char="•"/>
              <a:defRPr sz="2600" b="0">
                <a:solidFill>
                  <a:srgbClr val="000000"/>
                </a:solidFill>
                <a:latin typeface="Calibri"/>
                <a:ea typeface="Calibri"/>
                <a:cs typeface="Calibri"/>
              </a:defRPr>
            </a:pPr>
            <a:r>
              <a:rPr sz="2600" b="0" dirty="0">
                <a:solidFill>
                  <a:srgbClr val="000000"/>
                </a:solidFill>
                <a:latin typeface="Calibri"/>
                <a:ea typeface="Calibri"/>
                <a:cs typeface="Calibri"/>
              </a:rPr>
              <a:t>Download and check your uploaded files. Only the latest submission is graded</a:t>
            </a:r>
          </a:p>
          <a:p>
            <a:pPr marL="228600" indent="-165100" algn="l">
              <a:spcAft>
                <a:spcPts val="1100"/>
              </a:spcAft>
              <a:buChar char="•"/>
              <a:defRPr sz="2600" b="0">
                <a:solidFill>
                  <a:srgbClr val="000000"/>
                </a:solidFill>
                <a:latin typeface="Calibri"/>
                <a:ea typeface="Calibri"/>
                <a:cs typeface="Calibri"/>
              </a:defRPr>
            </a:pPr>
            <a:r>
              <a:rPr sz="2600" b="0" dirty="0">
                <a:solidFill>
                  <a:srgbClr val="000000"/>
                </a:solidFill>
                <a:latin typeface="Calibri"/>
                <a:ea typeface="Calibri"/>
                <a:cs typeface="Calibri"/>
              </a:rPr>
              <a:t>Ten late days in total, at most three per submission except the final report</a:t>
            </a:r>
          </a:p>
          <a:p>
            <a:pPr marL="228600" indent="-165100" algn="l">
              <a:spcAft>
                <a:spcPts val="1100"/>
              </a:spcAft>
              <a:buChar char="•"/>
              <a:defRPr sz="2600" b="0">
                <a:solidFill>
                  <a:srgbClr val="000000"/>
                </a:solidFill>
                <a:latin typeface="Calibri"/>
                <a:ea typeface="Calibri"/>
                <a:cs typeface="Calibri"/>
              </a:defRPr>
            </a:pPr>
            <a:r>
              <a:rPr sz="2600" b="0" dirty="0">
                <a:solidFill>
                  <a:srgbClr val="000000"/>
                </a:solidFill>
                <a:latin typeface="Calibri"/>
                <a:ea typeface="Calibri"/>
                <a:cs typeface="Calibri"/>
              </a:rPr>
              <a:t>Remaining late days may be used for the final report, with a possible Incomplete grade</a:t>
            </a:r>
          </a:p>
          <a:p>
            <a:pPr marL="228600" indent="-165100" algn="l">
              <a:spcAft>
                <a:spcPts val="1100"/>
              </a:spcAft>
              <a:buChar char="•"/>
              <a:defRPr sz="2600" b="0">
                <a:solidFill>
                  <a:srgbClr val="000000"/>
                </a:solidFill>
                <a:latin typeface="Calibri"/>
                <a:ea typeface="Calibri"/>
                <a:cs typeface="Calibri"/>
              </a:defRPr>
            </a:pPr>
            <a:r>
              <a:rPr sz="2600" b="0" dirty="0">
                <a:solidFill>
                  <a:srgbClr val="000000"/>
                </a:solidFill>
                <a:latin typeface="Calibri"/>
                <a:ea typeface="Calibri"/>
                <a:cs typeface="Calibri"/>
              </a:rPr>
              <a:t>Exceeding the late-day limits incurs grade penalties</a:t>
            </a:r>
          </a:p>
          <a:p>
            <a:pPr marL="0" indent="0" algn="l">
              <a:spcAft>
                <a:spcPts val="1100"/>
              </a:spcAft>
              <a:buNone/>
              <a:defRPr sz="2600" b="0">
                <a:solidFill>
                  <a:srgbClr val="000000"/>
                </a:solidFill>
                <a:latin typeface="Calibri"/>
                <a:ea typeface="Calibri"/>
                <a:cs typeface="Calibri"/>
              </a:defRPr>
            </a:pPr>
            <a:r>
              <a:rPr sz="2600" b="0" dirty="0">
                <a:solidFill>
                  <a:srgbClr val="000000"/>
                </a:solidFill>
                <a:latin typeface="Calibri"/>
                <a:ea typeface="Calibri"/>
                <a:cs typeface="Calibri"/>
              </a:rPr>
              <a:t>Full make-up and early-exam policies appear in the syllabus.</a:t>
            </a:r>
          </a:p>
        </p:txBody>
      </p:sp>
    </p:spTree>
    <p:extLst>
      <p:ext uri="{BB962C8B-B14F-4D97-AF65-F5344CB8AC3E}">
        <p14:creationId xmlns:p14="http://schemas.microsoft.com/office/powerpoint/2010/main" val="28700772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9C466-F287-51C6-8D05-1A9F3202F7B2}"/>
              </a:ext>
            </a:extLst>
          </p:cNvPr>
          <p:cNvSpPr>
            <a:spLocks noGrp="1"/>
          </p:cNvSpPr>
          <p:nvPr>
            <p:ph type="title"/>
          </p:nvPr>
        </p:nvSpPr>
        <p:spPr/>
        <p:txBody>
          <a:bodyPr/>
          <a:lstStyle/>
          <a:p>
            <a:r>
              <a:rPr lang="en-US" dirty="0"/>
              <a:t>Additional Textbooks and Other Resources</a:t>
            </a:r>
            <a:endParaRPr lang="en-GB" dirty="0"/>
          </a:p>
        </p:txBody>
      </p:sp>
      <p:sp>
        <p:nvSpPr>
          <p:cNvPr id="3" name="Content Placeholder 2">
            <a:extLst>
              <a:ext uri="{FF2B5EF4-FFF2-40B4-BE49-F238E27FC236}">
                <a16:creationId xmlns:a16="http://schemas.microsoft.com/office/drawing/2014/main" id="{0B8D219A-5D6E-186C-7037-6E8087030074}"/>
              </a:ext>
            </a:extLst>
          </p:cNvPr>
          <p:cNvSpPr>
            <a:spLocks noGrp="1"/>
          </p:cNvSpPr>
          <p:nvPr>
            <p:ph idx="1"/>
          </p:nvPr>
        </p:nvSpPr>
        <p:spPr>
          <a:xfrm>
            <a:off x="393095" y="1480457"/>
            <a:ext cx="11353800" cy="5020704"/>
          </a:xfrm>
        </p:spPr>
        <p:txBody>
          <a:bodyPr>
            <a:normAutofit fontScale="92500" lnSpcReduction="10000"/>
          </a:bodyPr>
          <a:lstStyle/>
          <a:p>
            <a:r>
              <a:rPr lang="en-US" dirty="0"/>
              <a:t>David Silver’s Lecture Notes and Videos (Classical)</a:t>
            </a:r>
          </a:p>
          <a:p>
            <a:pPr lvl="1"/>
            <a:r>
              <a:rPr lang="en-US" dirty="0">
                <a:hlinkClick r:id="rId2"/>
              </a:rPr>
              <a:t>https://www.davidsilver.uk/teaching/</a:t>
            </a:r>
            <a:r>
              <a:rPr lang="en-US" dirty="0"/>
              <a:t> </a:t>
            </a:r>
          </a:p>
          <a:p>
            <a:r>
              <a:rPr lang="en-US" dirty="0" err="1"/>
              <a:t>Shiyu</a:t>
            </a:r>
            <a:r>
              <a:rPr lang="en-US" dirty="0"/>
              <a:t> Zhao’s Notes and Videos (Classical)</a:t>
            </a:r>
          </a:p>
          <a:p>
            <a:pPr lvl="1"/>
            <a:r>
              <a:rPr lang="en-US" dirty="0">
                <a:hlinkClick r:id="rId3"/>
              </a:rPr>
              <a:t>https://github.com/MathFoundationRL/Book-Mathematical-Foundation-of-Reinforcement-Learning</a:t>
            </a:r>
            <a:r>
              <a:rPr lang="en-US" dirty="0"/>
              <a:t> </a:t>
            </a:r>
          </a:p>
          <a:p>
            <a:r>
              <a:rPr lang="en-US" dirty="0"/>
              <a:t>Sergey Levine’s Course</a:t>
            </a:r>
          </a:p>
          <a:p>
            <a:pPr lvl="1"/>
            <a:r>
              <a:rPr lang="en-US" dirty="0">
                <a:hlinkClick r:id="rId4"/>
              </a:rPr>
              <a:t>https://rail.eecs.berkeley.edu/deeprlcourse/</a:t>
            </a:r>
            <a:r>
              <a:rPr lang="en-US" dirty="0"/>
              <a:t> </a:t>
            </a:r>
          </a:p>
          <a:p>
            <a:r>
              <a:rPr lang="en-TR" dirty="0"/>
              <a:t>Emma Brunskill’s Course</a:t>
            </a:r>
          </a:p>
          <a:p>
            <a:pPr lvl="1"/>
            <a:r>
              <a:rPr lang="en-TR" dirty="0">
                <a:hlinkClick r:id="rId5"/>
              </a:rPr>
              <a:t>https://web.stanford.edu/class/cs234/</a:t>
            </a:r>
            <a:r>
              <a:rPr lang="en-TR" dirty="0"/>
              <a:t> </a:t>
            </a:r>
          </a:p>
          <a:p>
            <a:r>
              <a:rPr lang="en-TR" dirty="0"/>
              <a:t>Chelsea Finn’s Course</a:t>
            </a:r>
          </a:p>
          <a:p>
            <a:pPr lvl="1"/>
            <a:r>
              <a:rPr lang="en-TR" dirty="0">
                <a:hlinkClick r:id="rId6"/>
              </a:rPr>
              <a:t>https://cs224r.stanford.edu/</a:t>
            </a:r>
            <a:r>
              <a:rPr lang="en-TR" dirty="0"/>
              <a:t> </a:t>
            </a:r>
            <a:endParaRPr lang="en-US" dirty="0"/>
          </a:p>
          <a:p>
            <a:r>
              <a:rPr lang="en-US" dirty="0"/>
              <a:t>Kevin Murphy’s Book  (Both Classical and Deep)</a:t>
            </a:r>
          </a:p>
          <a:p>
            <a:pPr lvl="1"/>
            <a:r>
              <a:rPr lang="en-GB" dirty="0">
                <a:hlinkClick r:id="rId7"/>
              </a:rPr>
              <a:t>https://arxiv.org/abs/2412.05265</a:t>
            </a:r>
            <a:r>
              <a:rPr lang="en-US" dirty="0"/>
              <a:t> </a:t>
            </a:r>
            <a:endParaRPr lang="en-GB" dirty="0"/>
          </a:p>
        </p:txBody>
      </p:sp>
    </p:spTree>
    <p:extLst>
      <p:ext uri="{BB962C8B-B14F-4D97-AF65-F5344CB8AC3E}">
        <p14:creationId xmlns:p14="http://schemas.microsoft.com/office/powerpoint/2010/main" val="189636244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147</TotalTime>
  <Words>1537</Words>
  <Application>Microsoft Macintosh PowerPoint</Application>
  <DocSecurity>0</DocSecurity>
  <PresentationFormat>Widescreen</PresentationFormat>
  <Paragraphs>182</Paragraphs>
  <Slides>15</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Calibri Light</vt:lpstr>
      <vt:lpstr>Office Theme</vt:lpstr>
      <vt:lpstr>Reinforcement Learning COMP438/538 · Fall 2026 Nuts and bolts Barış Akgün Koç University</vt:lpstr>
      <vt:lpstr>Instructor and contact</vt:lpstr>
      <vt:lpstr>Your background and interests</vt:lpstr>
      <vt:lpstr>Class and syllabus</vt:lpstr>
      <vt:lpstr>Course overview</vt:lpstr>
      <vt:lpstr>Preparation</vt:lpstr>
      <vt:lpstr>Course communication</vt:lpstr>
      <vt:lpstr>Textbook and resources</vt:lpstr>
      <vt:lpstr>Lectures and participation</vt:lpstr>
      <vt:lpstr>Assessment</vt:lpstr>
      <vt:lpstr>Semester project</vt:lpstr>
      <vt:lpstr>LLM use in coursework</vt:lpstr>
      <vt:lpstr>Writing and exams</vt:lpstr>
      <vt:lpstr>Submissions and late policy</vt:lpstr>
      <vt:lpstr>Additional Textbooks and Other Resources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Barış Akgün</cp:lastModifiedBy>
  <cp:revision>4</cp:revision>
  <dcterms:created xsi:type="dcterms:W3CDTF">2026-10-04T21:54:16Z</dcterms:created>
  <dcterms:modified xsi:type="dcterms:W3CDTF">2026-10-05T11:23:42Z</dcterms:modified>
</cp:coreProperties>
</file>